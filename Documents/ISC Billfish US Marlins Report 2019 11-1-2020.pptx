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  <p:sldMasterId id="2147483660" r:id="rId2"/>
  </p:sldMasterIdLst>
  <p:notesMasterIdLst>
    <p:notesMasterId r:id="rId25"/>
  </p:notesMasterIdLst>
  <p:handoutMasterIdLst>
    <p:handoutMasterId r:id="rId26"/>
  </p:handoutMasterIdLst>
  <p:sldIdLst>
    <p:sldId id="292" r:id="rId3"/>
    <p:sldId id="300" r:id="rId4"/>
    <p:sldId id="293" r:id="rId5"/>
    <p:sldId id="315" r:id="rId6"/>
    <p:sldId id="316" r:id="rId7"/>
    <p:sldId id="291" r:id="rId8"/>
    <p:sldId id="282" r:id="rId9"/>
    <p:sldId id="298" r:id="rId10"/>
    <p:sldId id="304" r:id="rId11"/>
    <p:sldId id="311" r:id="rId12"/>
    <p:sldId id="303" r:id="rId13"/>
    <p:sldId id="312" r:id="rId14"/>
    <p:sldId id="310" r:id="rId15"/>
    <p:sldId id="299" r:id="rId16"/>
    <p:sldId id="302" r:id="rId17"/>
    <p:sldId id="313" r:id="rId18"/>
    <p:sldId id="307" r:id="rId19"/>
    <p:sldId id="317" r:id="rId20"/>
    <p:sldId id="319" r:id="rId21"/>
    <p:sldId id="318" r:id="rId22"/>
    <p:sldId id="320" r:id="rId23"/>
    <p:sldId id="301" r:id="rId24"/>
  </p:sldIdLst>
  <p:sldSz cx="9144000" cy="6858000" type="screen4x3"/>
  <p:notesSz cx="7086600" cy="94281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70" userDrawn="1">
          <p15:clr>
            <a:srgbClr val="A4A3A4"/>
          </p15:clr>
        </p15:guide>
        <p15:guide id="2" pos="223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33CC33"/>
    <a:srgbClr val="FFCCFF"/>
    <a:srgbClr val="FFCCCC"/>
    <a:srgbClr val="052909"/>
    <a:srgbClr val="00FF00"/>
    <a:srgbClr val="A1FBFD"/>
    <a:srgbClr val="EF503F"/>
    <a:srgbClr val="094710"/>
    <a:srgbClr val="107E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100" d="100"/>
          <a:sy n="100" d="100"/>
        </p:scale>
        <p:origin x="-2832" y="-72"/>
      </p:cViewPr>
      <p:guideLst>
        <p:guide orient="horz" pos="2970"/>
        <p:guide pos="223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1168" cy="470784"/>
          </a:xfrm>
          <a:prstGeom prst="rect">
            <a:avLst/>
          </a:prstGeom>
        </p:spPr>
        <p:txBody>
          <a:bodyPr vert="horz" lIns="89268" tIns="44634" rIns="89268" bIns="44634" rtlCol="0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13895" y="1"/>
            <a:ext cx="3071168" cy="470784"/>
          </a:xfrm>
          <a:prstGeom prst="rect">
            <a:avLst/>
          </a:prstGeom>
        </p:spPr>
        <p:txBody>
          <a:bodyPr vert="horz" lIns="89268" tIns="44634" rIns="89268" bIns="44634" rtlCol="0"/>
          <a:lstStyle>
            <a:lvl1pPr algn="r">
              <a:defRPr sz="1100"/>
            </a:lvl1pPr>
          </a:lstStyle>
          <a:p>
            <a:fld id="{4D6B44AA-FABC-457E-864D-52BBDD34F0F8}" type="datetimeFigureOut">
              <a:rPr lang="en-US" smtClean="0"/>
              <a:t>11/2/2020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955820"/>
            <a:ext cx="3071168" cy="470784"/>
          </a:xfrm>
          <a:prstGeom prst="rect">
            <a:avLst/>
          </a:prstGeom>
        </p:spPr>
        <p:txBody>
          <a:bodyPr vert="horz" lIns="89268" tIns="44634" rIns="89268" bIns="44634" rtlCol="0" anchor="b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13895" y="8955820"/>
            <a:ext cx="3071168" cy="470784"/>
          </a:xfrm>
          <a:prstGeom prst="rect">
            <a:avLst/>
          </a:prstGeom>
        </p:spPr>
        <p:txBody>
          <a:bodyPr vert="horz" lIns="89268" tIns="44634" rIns="89268" bIns="44634" rtlCol="0" anchor="b"/>
          <a:lstStyle>
            <a:lvl1pPr algn="r">
              <a:defRPr sz="1100"/>
            </a:lvl1pPr>
          </a:lstStyle>
          <a:p>
            <a:fld id="{979B383D-6039-47D0-9CE9-FEB908376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1432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3071168" cy="470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360" tIns="47181" rIns="94360" bIns="47181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charset="0"/>
                <a:ea typeface="ヒラギノ角ゴ Pro W3" pitchFamily="-48" charset="-128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15433" y="2"/>
            <a:ext cx="3071167" cy="470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360" tIns="47181" rIns="94360" bIns="47181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charset="0"/>
                <a:ea typeface="ヒラギノ角ゴ Pro W3" pitchFamily="-48" charset="-128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7450" y="708025"/>
            <a:ext cx="4711700" cy="35353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266" y="4478692"/>
            <a:ext cx="5198070" cy="4241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360" tIns="47181" rIns="94360" bIns="4718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57379"/>
            <a:ext cx="3071168" cy="470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360" tIns="47181" rIns="94360" bIns="47181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charset="0"/>
                <a:ea typeface="ヒラギノ角ゴ Pro W3" pitchFamily="-48" charset="-128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5433" y="8957379"/>
            <a:ext cx="3071167" cy="470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360" tIns="47181" rIns="94360" bIns="47181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DD9260D9-F2AD-47B4-A6D6-295802506B9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45284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pitchFamily="-48" charset="-128"/>
        <a:cs typeface="ヒラギノ角ゴ Pro W3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pitchFamily="-48" charset="-128"/>
        <a:cs typeface="ヒラギノ角ゴ Pro W3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pitchFamily="-48" charset="-128"/>
        <a:cs typeface="ヒラギノ角ゴ Pro W3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pitchFamily="-48" charset="-128"/>
        <a:cs typeface="ヒラギノ角ゴ Pro W3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ヒラギノ角ゴ Pro W3" pitchFamily="-48" charset="-128"/>
        <a:cs typeface="ヒラギノ角ゴ Pro W3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0"/>
          <p:cNvSpPr txBox="1">
            <a:spLocks noChangeArrowheads="1"/>
          </p:cNvSpPr>
          <p:nvPr userDrawn="1"/>
        </p:nvSpPr>
        <p:spPr bwMode="auto">
          <a:xfrm>
            <a:off x="685800" y="5257800"/>
            <a:ext cx="3733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fld id="{F4A72B00-0FCC-411B-9AF6-0DCB854AC791}" type="datetime4">
              <a:rPr lang="en-US" sz="1400">
                <a:solidFill>
                  <a:schemeClr val="bg1"/>
                </a:solidFill>
              </a:rPr>
              <a:pPr eaLnBrk="0" hangingPunct="0">
                <a:spcBef>
                  <a:spcPct val="50000"/>
                </a:spcBef>
                <a:defRPr/>
              </a:pPr>
              <a:t>November 2, 2020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3200400"/>
            <a:ext cx="5410200" cy="1143000"/>
          </a:xfrm>
        </p:spPr>
        <p:txBody>
          <a:bodyPr/>
          <a:lstStyle>
            <a:lvl1pPr>
              <a:defRPr>
                <a:solidFill>
                  <a:srgbClr val="FCDA7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85800" y="4495800"/>
            <a:ext cx="4876800" cy="457200"/>
          </a:xfrm>
        </p:spPr>
        <p:txBody>
          <a:bodyPr/>
          <a:lstStyle>
            <a:lvl1pPr marL="0" indent="0">
              <a:defRPr>
                <a:solidFill>
                  <a:srgbClr val="FCDA7F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62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2362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62700" y="1143000"/>
            <a:ext cx="1943100" cy="5334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1143000"/>
            <a:ext cx="5676900" cy="5334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defRPr>
                <a:latin typeface="Arial" charset="0"/>
              </a:defRPr>
            </a:lvl1pPr>
          </a:lstStyle>
          <a:p>
            <a:pPr>
              <a:defRPr/>
            </a:pPr>
            <a:fld id="{FC8F1192-3E01-4C66-9419-5A55C14B9FA2}" type="datetime1">
              <a:rPr lang="en-US"/>
              <a:pPr>
                <a:defRPr/>
              </a:pPr>
              <a:t>11/2/2020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spcBef>
                <a:spcPct val="20000"/>
              </a:spcBef>
              <a:defRPr>
                <a:solidFill>
                  <a:prstClr val="white">
                    <a:tint val="75000"/>
                  </a:prst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defRPr>
                <a:latin typeface="Arial" charset="0"/>
              </a:defRPr>
            </a:lvl1pPr>
          </a:lstStyle>
          <a:p>
            <a:pPr>
              <a:defRPr/>
            </a:pPr>
            <a:fld id="{3D838781-96F7-4417-B127-6EDF4B8E06C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defRPr>
                <a:latin typeface="Arial" charset="0"/>
              </a:defRPr>
            </a:lvl1pPr>
          </a:lstStyle>
          <a:p>
            <a:pPr>
              <a:defRPr/>
            </a:pPr>
            <a:fld id="{AC6F48D1-9A7B-4F57-9811-78E2140043DB}" type="datetime1">
              <a:rPr lang="en-US"/>
              <a:pPr>
                <a:defRPr/>
              </a:pPr>
              <a:t>11/2/2020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spcBef>
                <a:spcPct val="20000"/>
              </a:spcBef>
              <a:defRPr>
                <a:solidFill>
                  <a:prstClr val="white">
                    <a:tint val="75000"/>
                  </a:prst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defRPr>
                <a:latin typeface="Arial" charset="0"/>
              </a:defRPr>
            </a:lvl1pPr>
          </a:lstStyle>
          <a:p>
            <a:pPr>
              <a:defRPr/>
            </a:pPr>
            <a:fld id="{7F130B61-F642-41F7-B2ED-A738FCC6247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defRPr>
                <a:latin typeface="Arial" charset="0"/>
              </a:defRPr>
            </a:lvl1pPr>
          </a:lstStyle>
          <a:p>
            <a:pPr>
              <a:defRPr/>
            </a:pPr>
            <a:fld id="{53F86DF9-86F3-4601-A104-20AE0443B851}" type="datetime1">
              <a:rPr lang="en-US"/>
              <a:pPr>
                <a:defRPr/>
              </a:pPr>
              <a:t>11/2/2020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spcBef>
                <a:spcPct val="20000"/>
              </a:spcBef>
              <a:defRPr>
                <a:solidFill>
                  <a:prstClr val="white">
                    <a:tint val="75000"/>
                  </a:prst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defRPr>
                <a:latin typeface="Arial" charset="0"/>
              </a:defRPr>
            </a:lvl1pPr>
          </a:lstStyle>
          <a:p>
            <a:pPr>
              <a:defRPr/>
            </a:pPr>
            <a:fld id="{879CBADD-463A-42E6-A0BC-89128E59AC5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defRPr>
                <a:latin typeface="Arial" charset="0"/>
              </a:defRPr>
            </a:lvl1pPr>
          </a:lstStyle>
          <a:p>
            <a:pPr>
              <a:defRPr/>
            </a:pPr>
            <a:fld id="{9250C150-80C9-42A2-AA67-053931056A3A}" type="datetime1">
              <a:rPr lang="en-US"/>
              <a:pPr>
                <a:defRPr/>
              </a:pPr>
              <a:t>11/2/2020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spcBef>
                <a:spcPct val="20000"/>
              </a:spcBef>
              <a:defRPr>
                <a:solidFill>
                  <a:prstClr val="white">
                    <a:tint val="75000"/>
                  </a:prst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defRPr>
                <a:latin typeface="Arial" charset="0"/>
              </a:defRPr>
            </a:lvl1pPr>
          </a:lstStyle>
          <a:p>
            <a:pPr>
              <a:defRPr/>
            </a:pPr>
            <a:fld id="{F3F8C72E-C1F2-4CF9-B865-F921F5E63FC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defRPr>
                <a:latin typeface="Arial" charset="0"/>
              </a:defRPr>
            </a:lvl1pPr>
          </a:lstStyle>
          <a:p>
            <a:pPr>
              <a:defRPr/>
            </a:pPr>
            <a:fld id="{42D18374-CB07-486C-8076-4D7FA144FC5F}" type="datetime1">
              <a:rPr lang="en-US"/>
              <a:pPr>
                <a:defRPr/>
              </a:pPr>
              <a:t>11/2/2020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spcBef>
                <a:spcPct val="20000"/>
              </a:spcBef>
              <a:defRPr>
                <a:solidFill>
                  <a:prstClr val="white">
                    <a:tint val="75000"/>
                  </a:prst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defRPr>
                <a:latin typeface="Arial" charset="0"/>
              </a:defRPr>
            </a:lvl1pPr>
          </a:lstStyle>
          <a:p>
            <a:pPr>
              <a:defRPr/>
            </a:pPr>
            <a:fld id="{6B95A87B-B449-4E1C-8A5A-5AEEEDFC437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defRPr>
                <a:latin typeface="Arial" charset="0"/>
              </a:defRPr>
            </a:lvl1pPr>
          </a:lstStyle>
          <a:p>
            <a:pPr>
              <a:defRPr/>
            </a:pPr>
            <a:fld id="{52068DF9-A44E-44A4-A43C-E646AE41B07F}" type="datetime1">
              <a:rPr lang="en-US"/>
              <a:pPr>
                <a:defRPr/>
              </a:pPr>
              <a:t>11/2/2020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spcBef>
                <a:spcPct val="20000"/>
              </a:spcBef>
              <a:defRPr>
                <a:solidFill>
                  <a:prstClr val="white">
                    <a:tint val="75000"/>
                  </a:prst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defRPr>
                <a:latin typeface="Arial" charset="0"/>
              </a:defRPr>
            </a:lvl1pPr>
          </a:lstStyle>
          <a:p>
            <a:pPr>
              <a:defRPr/>
            </a:pPr>
            <a:fld id="{3F17FACD-17C7-4C42-A5B5-94E7C220173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defRPr>
                <a:latin typeface="Arial" charset="0"/>
              </a:defRPr>
            </a:lvl1pPr>
          </a:lstStyle>
          <a:p>
            <a:pPr>
              <a:defRPr/>
            </a:pPr>
            <a:fld id="{7ECB44BF-984C-497A-85C4-B7C474A59D23}" type="datetime1">
              <a:rPr lang="en-US"/>
              <a:pPr>
                <a:defRPr/>
              </a:pPr>
              <a:t>11/2/2020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spcBef>
                <a:spcPct val="20000"/>
              </a:spcBef>
              <a:defRPr>
                <a:solidFill>
                  <a:prstClr val="white">
                    <a:tint val="75000"/>
                  </a:prst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defRPr>
                <a:latin typeface="Arial" charset="0"/>
              </a:defRPr>
            </a:lvl1pPr>
          </a:lstStyle>
          <a:p>
            <a:pPr>
              <a:defRPr/>
            </a:pPr>
            <a:fld id="{8C330A78-F682-4FC9-B5F3-2A3C9BBE58C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defRPr>
                <a:latin typeface="Arial" charset="0"/>
              </a:defRPr>
            </a:lvl1pPr>
          </a:lstStyle>
          <a:p>
            <a:pPr>
              <a:defRPr/>
            </a:pPr>
            <a:fld id="{61047B9A-95BA-44DE-A677-9386F494612C}" type="datetime1">
              <a:rPr lang="en-US"/>
              <a:pPr>
                <a:defRPr/>
              </a:pPr>
              <a:t>11/2/2020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spcBef>
                <a:spcPct val="20000"/>
              </a:spcBef>
              <a:defRPr>
                <a:solidFill>
                  <a:prstClr val="white">
                    <a:tint val="75000"/>
                  </a:prst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defRPr>
                <a:latin typeface="Arial" charset="0"/>
              </a:defRPr>
            </a:lvl1pPr>
          </a:lstStyle>
          <a:p>
            <a:pPr>
              <a:defRPr/>
            </a:pPr>
            <a:fld id="{9D39A6F8-ED5A-4001-96A9-2B58C01026E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defRPr>
                <a:latin typeface="Arial" charset="0"/>
              </a:defRPr>
            </a:lvl1pPr>
          </a:lstStyle>
          <a:p>
            <a:pPr>
              <a:defRPr/>
            </a:pPr>
            <a:fld id="{6E987A3B-C3E3-492B-8E88-81A8B1DCB9B5}" type="datetime1">
              <a:rPr lang="en-US"/>
              <a:pPr>
                <a:defRPr/>
              </a:pPr>
              <a:t>11/2/2020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spcBef>
                <a:spcPct val="20000"/>
              </a:spcBef>
              <a:defRPr>
                <a:solidFill>
                  <a:prstClr val="white">
                    <a:tint val="75000"/>
                  </a:prst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defRPr>
                <a:latin typeface="Arial" charset="0"/>
              </a:defRPr>
            </a:lvl1pPr>
          </a:lstStyle>
          <a:p>
            <a:pPr>
              <a:defRPr/>
            </a:pPr>
            <a:fld id="{0BD34EED-EB54-40A4-A84B-2BCAA741B9C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spcBef>
                <a:spcPct val="20000"/>
              </a:spcBef>
              <a:defRPr>
                <a:latin typeface="Arial" charset="0"/>
              </a:defRPr>
            </a:lvl1pPr>
          </a:lstStyle>
          <a:p>
            <a:pPr>
              <a:defRPr/>
            </a:pPr>
            <a:fld id="{9696F20F-1B83-4812-8889-A58C72AB06C6}" type="datetime1">
              <a:rPr lang="en-US"/>
              <a:pPr>
                <a:defRPr/>
              </a:pPr>
              <a:t>11/2/2020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spcBef>
                <a:spcPct val="20000"/>
              </a:spcBef>
              <a:defRPr>
                <a:solidFill>
                  <a:prstClr val="white">
                    <a:tint val="75000"/>
                  </a:prst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defRPr>
                <a:latin typeface="Arial" charset="0"/>
              </a:defRPr>
            </a:lvl1pPr>
          </a:lstStyle>
          <a:p>
            <a:pPr>
              <a:defRPr/>
            </a:pPr>
            <a:fld id="{11AA09F4-6377-4113-B3C2-5A65DD57235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2362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0" y="1143000"/>
            <a:ext cx="60198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38" name="Text Box 14"/>
          <p:cNvSpPr txBox="1">
            <a:spLocks noChangeArrowheads="1"/>
          </p:cNvSpPr>
          <p:nvPr userDrawn="1"/>
        </p:nvSpPr>
        <p:spPr bwMode="auto">
          <a:xfrm>
            <a:off x="8610600" y="6477000"/>
            <a:ext cx="7620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fld id="{70CBDAFE-E312-4752-B27F-0DA68D029764}" type="slidenum">
              <a:rPr lang="en-US" sz="1200"/>
              <a:pPr eaLnBrk="0" hangingPunct="0">
                <a:spcBef>
                  <a:spcPct val="50000"/>
                </a:spcBef>
                <a:defRPr/>
              </a:pPr>
              <a:t>‹#›</a:t>
            </a:fld>
            <a:endParaRPr 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50" r:id="rId2"/>
    <p:sldLayoutId id="2147483851" r:id="rId3"/>
    <p:sldLayoutId id="2147483852" r:id="rId4"/>
    <p:sldLayoutId id="2147483853" r:id="rId5"/>
    <p:sldLayoutId id="2147483854" r:id="rId6"/>
    <p:sldLayoutId id="2147483855" r:id="rId7"/>
    <p:sldLayoutId id="2147483856" r:id="rId8"/>
    <p:sldLayoutId id="2147483857" r:id="rId9"/>
    <p:sldLayoutId id="2147483858" r:id="rId10"/>
    <p:sldLayoutId id="21474838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+mj-lt"/>
          <a:ea typeface="+mj-ea"/>
          <a:cs typeface="ヒラギノ角ゴ Pro W3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 Black" pitchFamily="34" charset="0"/>
          <a:ea typeface="ヒラギノ角ゴ Pro W3" pitchFamily="-48" charset="-128"/>
          <a:cs typeface="ヒラギノ角ゴ Pro W3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 Black" pitchFamily="34" charset="0"/>
          <a:ea typeface="ヒラギノ角ゴ Pro W3" pitchFamily="-48" charset="-128"/>
          <a:cs typeface="ヒラギノ角ゴ Pro W3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 Black" pitchFamily="34" charset="0"/>
          <a:ea typeface="ヒラギノ角ゴ Pro W3" pitchFamily="-48" charset="-128"/>
          <a:cs typeface="ヒラギノ角ゴ Pro W3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 Black" pitchFamily="34" charset="0"/>
          <a:ea typeface="ヒラギノ角ゴ Pro W3" pitchFamily="-48" charset="-128"/>
          <a:cs typeface="ヒラギノ角ゴ Pro W3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 Black" pitchFamily="34" charset="0"/>
          <a:ea typeface="ヒラギノ角ゴ Pro W3" pitchFamily="-48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 Black" pitchFamily="34" charset="0"/>
          <a:ea typeface="ヒラギノ角ゴ Pro W3" pitchFamily="-48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 Black" pitchFamily="34" charset="0"/>
          <a:ea typeface="ヒラギノ角ゴ Pro W3" pitchFamily="-48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 Black" pitchFamily="34" charset="0"/>
          <a:ea typeface="ヒラギノ角ゴ Pro W3" pitchFamily="-48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400">
          <a:solidFill>
            <a:schemeClr val="tx1"/>
          </a:solidFill>
          <a:latin typeface="+mn-lt"/>
          <a:ea typeface="+mn-ea"/>
          <a:cs typeface="ヒラギノ角ゴ Pro W3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—"/>
        <a:defRPr sz="2200">
          <a:solidFill>
            <a:schemeClr val="tx1"/>
          </a:solidFill>
          <a:latin typeface="+mn-lt"/>
          <a:ea typeface="+mn-ea"/>
          <a:cs typeface="ヒラギノ角ゴ Pro W3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  <a:cs typeface="ヒラギノ角ゴ Pro W3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  <a:ea typeface="+mn-ea"/>
          <a:cs typeface="ヒラギノ角ゴ Pro W3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  <a:cs typeface="ヒラギノ角ゴ Pro W3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FFFFFF"/>
                </a:solidFill>
                <a:latin typeface="Candara" pitchFamily="34" charset="0"/>
              </a:defRPr>
            </a:lvl1pPr>
          </a:lstStyle>
          <a:p>
            <a:pPr>
              <a:defRPr/>
            </a:pPr>
            <a:fld id="{ACBDF18B-B8E6-4633-A959-C0EF61F72960}" type="datetime1">
              <a:rPr lang="en-US"/>
              <a:pPr>
                <a:defRPr/>
              </a:pPr>
              <a:t>11/2/2020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defRPr sz="1200">
                <a:solidFill>
                  <a:srgbClr val="FFFFFF"/>
                </a:solidFill>
                <a:latin typeface="Candara" pitchFamily="34" charset="0"/>
                <a:ea typeface="ヒラギノ角ゴ Pro W3" pitchFamily="-48" charset="-128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FFFFFF"/>
                </a:solidFill>
                <a:latin typeface="Candara" pitchFamily="34" charset="0"/>
              </a:defRPr>
            </a:lvl1pPr>
          </a:lstStyle>
          <a:p>
            <a:pPr>
              <a:defRPr/>
            </a:pPr>
            <a:fld id="{72AD9EF5-85BF-43AC-ACF6-88401D49BDF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  <p:sldLayoutId id="2147483865" r:id="rId5"/>
    <p:sldLayoutId id="2147483866" r:id="rId6"/>
    <p:sldLayoutId id="2147483867" r:id="rId7"/>
    <p:sldLayoutId id="2147483868" r:id="rId8"/>
    <p:sldLayoutId id="2147483869" r:id="rId9"/>
    <p:sldLayoutId id="2147483870" r:id="rId10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ndara" pitchFamily="34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ndara" pitchFamily="34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ndara" pitchFamily="34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ndara" pitchFamily="34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ndara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ndara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ndara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ndara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057400" y="228600"/>
            <a:ext cx="3581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600" kern="0" dirty="0" smtClean="0">
              <a:solidFill>
                <a:schemeClr val="bg1">
                  <a:lumMod val="95000"/>
                </a:schemeClr>
              </a:solidFill>
              <a:latin typeface="+mj-lt"/>
              <a:ea typeface="+mj-ea"/>
              <a:cs typeface="ヒラギノ角ゴ Pro W3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ヒラギノ角ゴ Pro W3"/>
              </a:rPr>
              <a:t>Pacific Islands Fisheries Science Center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ヒラギノ角ゴ Pro W3"/>
              </a:rPr>
              <a:t>Fisheries Research &amp; Monitoring Division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uLnTx/>
                <a:uFillTx/>
                <a:latin typeface="+mj-lt"/>
                <a:ea typeface="+mj-ea"/>
                <a:cs typeface="ヒラギノ角ゴ Pro W3"/>
              </a:rPr>
              <a:t/>
            </a:r>
            <a:b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uLnTx/>
                <a:uFillTx/>
                <a:latin typeface="+mj-lt"/>
                <a:ea typeface="+mj-ea"/>
                <a:cs typeface="ヒラギノ角ゴ Pro W3"/>
              </a:rPr>
            </a:b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95000"/>
                </a:schemeClr>
              </a:solidFill>
              <a:uLnTx/>
              <a:uFillTx/>
              <a:latin typeface="+mj-lt"/>
              <a:ea typeface="+mj-ea"/>
              <a:cs typeface="ヒラギノ角ゴ Pro W3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514600" y="1143000"/>
            <a:ext cx="6477000" cy="838200"/>
          </a:xfrm>
        </p:spPr>
        <p:txBody>
          <a:bodyPr/>
          <a:lstStyle/>
          <a:p>
            <a:pPr algn="r"/>
            <a:r>
              <a:rPr lang="en-US" dirty="0" smtClean="0">
                <a:ln>
                  <a:solidFill>
                    <a:schemeClr val="accent4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U.S. Commercial Fisheries for Marlins in the North Pacific Ocean</a:t>
            </a:r>
            <a:endParaRPr lang="en-US" dirty="0">
              <a:ln>
                <a:solidFill>
                  <a:schemeClr val="accent4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164" y="2133600"/>
            <a:ext cx="9176238" cy="4724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200" y="5334000"/>
            <a:ext cx="75438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sz="2000" b="1" dirty="0" smtClean="0">
                <a:ln>
                  <a:solidFill>
                    <a:schemeClr val="accent4">
                      <a:alpha val="99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Russell </a:t>
            </a:r>
            <a:r>
              <a:rPr lang="en-US" sz="2000" b="1" dirty="0" smtClean="0">
                <a:ln>
                  <a:solidFill>
                    <a:schemeClr val="accent4">
                      <a:alpha val="99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Ito and Michelle Sculley</a:t>
            </a:r>
            <a:endParaRPr lang="en-US" sz="2000" b="1" dirty="0" smtClean="0">
              <a:ln>
                <a:solidFill>
                  <a:schemeClr val="accent4">
                    <a:alpha val="99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en-US" sz="2000" b="1" dirty="0" smtClean="0">
                <a:ln>
                  <a:solidFill>
                    <a:schemeClr val="accent4">
                      <a:alpha val="99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NOAA Pacific Islands Fisheries Science Center</a:t>
            </a:r>
          </a:p>
          <a:p>
            <a:pPr eaLnBrk="1" hangingPunct="1">
              <a:defRPr/>
            </a:pPr>
            <a:r>
              <a:rPr lang="en-US" sz="2000" b="1" dirty="0" smtClean="0">
                <a:ln>
                  <a:solidFill>
                    <a:schemeClr val="accent4">
                      <a:alpha val="99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ISC Billfish Working Group Meeting </a:t>
            </a:r>
          </a:p>
          <a:p>
            <a:pPr eaLnBrk="1" hangingPunct="1">
              <a:defRPr/>
            </a:pPr>
            <a:r>
              <a:rPr lang="en-US" sz="2000" b="1" dirty="0" smtClean="0">
                <a:ln>
                  <a:solidFill>
                    <a:schemeClr val="accent4">
                      <a:alpha val="99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November 2-12, 2020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0" y="1219200"/>
            <a:ext cx="5029200" cy="838200"/>
          </a:xfrm>
        </p:spPr>
        <p:txBody>
          <a:bodyPr/>
          <a:lstStyle/>
          <a:p>
            <a:pPr algn="r"/>
            <a:r>
              <a:rPr lang="en-US" sz="2800" b="1" dirty="0" smtClean="0">
                <a:ln>
                  <a:solidFill>
                    <a:schemeClr val="accent4"/>
                  </a:solidFill>
                </a:ln>
                <a:solidFill>
                  <a:schemeClr val="accent4">
                    <a:lumMod val="75000"/>
                    <a:lumOff val="25000"/>
                  </a:schemeClr>
                </a:solidFill>
                <a:latin typeface="Arial Narrow" pitchFamily="34" charset="0"/>
              </a:rPr>
              <a:t>Marlin Catch by Gear Type</a:t>
            </a:r>
            <a:endParaRPr lang="en-US" sz="2800" b="1" dirty="0">
              <a:ln>
                <a:solidFill>
                  <a:schemeClr val="accent4"/>
                </a:solidFill>
              </a:ln>
              <a:solidFill>
                <a:schemeClr val="accent4">
                  <a:lumMod val="75000"/>
                  <a:lumOff val="25000"/>
                </a:schemeClr>
              </a:solidFill>
              <a:latin typeface="Arial Narrow" pitchFamily="34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057400" y="228600"/>
            <a:ext cx="3581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600" kern="0" dirty="0" smtClean="0">
              <a:solidFill>
                <a:schemeClr val="bg1">
                  <a:lumMod val="95000"/>
                </a:schemeClr>
              </a:solidFill>
              <a:latin typeface="+mj-lt"/>
              <a:ea typeface="+mj-ea"/>
              <a:cs typeface="ヒラギノ角ゴ Pro W3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ヒラギノ角ゴ Pro W3"/>
              </a:rPr>
              <a:t>Pacific Islands Fisheries Science Center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ヒラギノ角ゴ Pro W3"/>
              </a:rPr>
              <a:t>Fisheries Research &amp; Monitoring Division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uLnTx/>
                <a:uFillTx/>
                <a:latin typeface="+mj-lt"/>
                <a:ea typeface="+mj-ea"/>
                <a:cs typeface="ヒラギノ角ゴ Pro W3"/>
              </a:rPr>
              <a:t/>
            </a:r>
            <a:b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uLnTx/>
                <a:uFillTx/>
                <a:latin typeface="+mj-lt"/>
                <a:ea typeface="+mj-ea"/>
                <a:cs typeface="ヒラギノ角ゴ Pro W3"/>
              </a:rPr>
            </a:b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95000"/>
                </a:schemeClr>
              </a:solidFill>
              <a:uLnTx/>
              <a:uFillTx/>
              <a:latin typeface="+mj-lt"/>
              <a:ea typeface="+mj-ea"/>
              <a:cs typeface="ヒラギノ角ゴ Pro W3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6096000" y="5715000"/>
            <a:ext cx="457200" cy="2286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ヒラギノ角ゴ Pro W3" pitchFamily="-48" charset="-12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09800"/>
            <a:ext cx="8268740" cy="4191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1800" y="1143000"/>
            <a:ext cx="5181600" cy="762000"/>
          </a:xfrm>
        </p:spPr>
        <p:txBody>
          <a:bodyPr/>
          <a:lstStyle/>
          <a:p>
            <a:pPr algn="r"/>
            <a:r>
              <a:rPr lang="en-US" sz="2800" b="1" dirty="0" smtClean="0">
                <a:ln>
                  <a:solidFill>
                    <a:schemeClr val="accent4"/>
                  </a:solidFill>
                </a:ln>
                <a:solidFill>
                  <a:schemeClr val="accent4">
                    <a:lumMod val="75000"/>
                    <a:lumOff val="25000"/>
                  </a:schemeClr>
                </a:solidFill>
                <a:latin typeface="Arial Narrow" pitchFamily="34" charset="0"/>
              </a:rPr>
              <a:t>Marlin Catch by Species</a:t>
            </a:r>
            <a:endParaRPr lang="en-US" sz="2800" b="1" dirty="0">
              <a:ln>
                <a:solidFill>
                  <a:schemeClr val="accent4"/>
                </a:solidFill>
              </a:ln>
              <a:solidFill>
                <a:schemeClr val="accent4">
                  <a:lumMod val="75000"/>
                  <a:lumOff val="25000"/>
                </a:schemeClr>
              </a:solidFill>
              <a:latin typeface="Arial Narrow" pitchFamily="34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057400" y="228600"/>
            <a:ext cx="3581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600" kern="0" dirty="0" smtClean="0">
              <a:solidFill>
                <a:schemeClr val="bg1">
                  <a:lumMod val="95000"/>
                </a:schemeClr>
              </a:solidFill>
              <a:latin typeface="+mj-lt"/>
              <a:ea typeface="+mj-ea"/>
              <a:cs typeface="ヒラギノ角ゴ Pro W3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ヒラギノ角ゴ Pro W3"/>
              </a:rPr>
              <a:t>Pacific Islands Fisheries Science Center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ヒラギノ角ゴ Pro W3"/>
              </a:rPr>
              <a:t>Fisheries Research &amp; Monitoring Division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uLnTx/>
                <a:uFillTx/>
                <a:latin typeface="+mj-lt"/>
                <a:ea typeface="+mj-ea"/>
                <a:cs typeface="ヒラギノ角ゴ Pro W3"/>
              </a:rPr>
              <a:t/>
            </a:r>
            <a:b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uLnTx/>
                <a:uFillTx/>
                <a:latin typeface="+mj-lt"/>
                <a:ea typeface="+mj-ea"/>
                <a:cs typeface="ヒラギノ角ゴ Pro W3"/>
              </a:rPr>
            </a:b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95000"/>
                </a:schemeClr>
              </a:solidFill>
              <a:uLnTx/>
              <a:uFillTx/>
              <a:latin typeface="+mj-lt"/>
              <a:ea typeface="+mj-ea"/>
              <a:cs typeface="ヒラギノ角ゴ Pro W3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286000"/>
            <a:ext cx="8060973" cy="40985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2200" y="1219200"/>
            <a:ext cx="6019800" cy="838200"/>
          </a:xfrm>
        </p:spPr>
        <p:txBody>
          <a:bodyPr/>
          <a:lstStyle/>
          <a:p>
            <a:pPr algn="r"/>
            <a:r>
              <a:rPr lang="en-US" sz="2800" b="1" dirty="0" smtClean="0">
                <a:ln>
                  <a:solidFill>
                    <a:schemeClr val="accent4"/>
                  </a:solidFill>
                </a:ln>
                <a:solidFill>
                  <a:schemeClr val="accent4">
                    <a:lumMod val="75000"/>
                    <a:lumOff val="25000"/>
                  </a:schemeClr>
                </a:solidFill>
                <a:latin typeface="Arial Narrow" pitchFamily="34" charset="0"/>
              </a:rPr>
              <a:t>Striped Marlin Catch </a:t>
            </a:r>
            <a:r>
              <a:rPr lang="en-US" sz="2800" b="1" dirty="0">
                <a:ln>
                  <a:solidFill>
                    <a:schemeClr val="accent4"/>
                  </a:solidFill>
                </a:ln>
                <a:solidFill>
                  <a:schemeClr val="accent4">
                    <a:lumMod val="75000"/>
                    <a:lumOff val="25000"/>
                  </a:schemeClr>
                </a:solidFill>
                <a:latin typeface="Arial Narrow" pitchFamily="34" charset="0"/>
              </a:rPr>
              <a:t>by Gear Type</a:t>
            </a:r>
            <a:endParaRPr lang="en-US" sz="2800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057400" y="228600"/>
            <a:ext cx="3581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600" kern="0" dirty="0" smtClean="0">
              <a:solidFill>
                <a:schemeClr val="bg1">
                  <a:lumMod val="95000"/>
                </a:schemeClr>
              </a:solidFill>
              <a:latin typeface="+mj-lt"/>
              <a:ea typeface="+mj-ea"/>
              <a:cs typeface="ヒラギノ角ゴ Pro W3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ヒラギノ角ゴ Pro W3"/>
              </a:rPr>
              <a:t>Pacific Islands Fisheries Science Center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ヒラギノ角ゴ Pro W3"/>
              </a:rPr>
              <a:t>Fisheries Research &amp; Monitoring Division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uLnTx/>
                <a:uFillTx/>
                <a:latin typeface="+mj-lt"/>
                <a:ea typeface="+mj-ea"/>
                <a:cs typeface="ヒラギノ角ゴ Pro W3"/>
              </a:rPr>
              <a:t/>
            </a:r>
            <a:b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uLnTx/>
                <a:uFillTx/>
                <a:latin typeface="+mj-lt"/>
                <a:ea typeface="+mj-ea"/>
                <a:cs typeface="ヒラギノ角ゴ Pro W3"/>
              </a:rPr>
            </a:b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95000"/>
                </a:schemeClr>
              </a:solidFill>
              <a:uLnTx/>
              <a:uFillTx/>
              <a:latin typeface="+mj-lt"/>
              <a:ea typeface="+mj-ea"/>
              <a:cs typeface="ヒラギノ角ゴ Pro W3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286000"/>
            <a:ext cx="7848600" cy="4200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525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057400" y="228600"/>
            <a:ext cx="3581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600" kern="0" dirty="0" smtClean="0">
              <a:solidFill>
                <a:schemeClr val="bg1">
                  <a:lumMod val="95000"/>
                </a:schemeClr>
              </a:solidFill>
              <a:latin typeface="+mj-lt"/>
              <a:ea typeface="+mj-ea"/>
              <a:cs typeface="ヒラギノ角ゴ Pro W3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ヒラギノ角ゴ Pro W3"/>
              </a:rPr>
              <a:t>Pacific Islands Fisheries Science Center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ヒラギノ角ゴ Pro W3"/>
              </a:rPr>
              <a:t>Fisheries Research &amp; Monitoring Division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uLnTx/>
                <a:uFillTx/>
                <a:latin typeface="+mj-lt"/>
                <a:ea typeface="+mj-ea"/>
                <a:cs typeface="ヒラギノ角ゴ Pro W3"/>
              </a:rPr>
              <a:t/>
            </a:r>
            <a:b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uLnTx/>
                <a:uFillTx/>
                <a:latin typeface="+mj-lt"/>
                <a:ea typeface="+mj-ea"/>
                <a:cs typeface="ヒラギノ角ゴ Pro W3"/>
              </a:rPr>
            </a:b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95000"/>
                </a:schemeClr>
              </a:solidFill>
              <a:uLnTx/>
              <a:uFillTx/>
              <a:latin typeface="+mj-lt"/>
              <a:ea typeface="+mj-ea"/>
              <a:cs typeface="ヒラギノ角ゴ Pro W3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3200400" y="1143000"/>
            <a:ext cx="52578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+mj-lt"/>
                <a:ea typeface="+mj-ea"/>
                <a:cs typeface="ヒラギノ角ゴ Pro W3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 Black" pitchFamily="34" charset="0"/>
                <a:ea typeface="ヒラギノ角ゴ Pro W3" pitchFamily="-48" charset="-128"/>
                <a:cs typeface="ヒラギノ角ゴ Pro W3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 Black" pitchFamily="34" charset="0"/>
                <a:ea typeface="ヒラギノ角ゴ Pro W3" pitchFamily="-48" charset="-128"/>
                <a:cs typeface="ヒラギノ角ゴ Pro W3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 Black" pitchFamily="34" charset="0"/>
                <a:ea typeface="ヒラギノ角ゴ Pro W3" pitchFamily="-48" charset="-128"/>
                <a:cs typeface="ヒラギノ角ゴ Pro W3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 Black" pitchFamily="34" charset="0"/>
                <a:ea typeface="ヒラギノ角ゴ Pro W3" pitchFamily="-48" charset="-128"/>
                <a:cs typeface="ヒラギノ角ゴ Pro W3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 Black" pitchFamily="34" charset="0"/>
                <a:ea typeface="ヒラギノ角ゴ Pro W3" pitchFamily="-48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 Black" pitchFamily="34" charset="0"/>
                <a:ea typeface="ヒラギノ角ゴ Pro W3" pitchFamily="-48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 Black" pitchFamily="34" charset="0"/>
                <a:ea typeface="ヒラギノ角ゴ Pro W3" pitchFamily="-48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2"/>
                </a:solidFill>
                <a:latin typeface="Arial Black" pitchFamily="34" charset="0"/>
                <a:ea typeface="ヒラギノ角ゴ Pro W3" pitchFamily="-48" charset="-128"/>
              </a:defRPr>
            </a:lvl9pPr>
          </a:lstStyle>
          <a:p>
            <a:pPr algn="r"/>
            <a:r>
              <a:rPr lang="en-US" sz="2800" b="1" kern="0" dirty="0" smtClean="0">
                <a:ln>
                  <a:solidFill>
                    <a:schemeClr val="accent4"/>
                  </a:solidFill>
                </a:ln>
                <a:solidFill>
                  <a:schemeClr val="accent4">
                    <a:lumMod val="75000"/>
                    <a:lumOff val="25000"/>
                  </a:schemeClr>
                </a:solidFill>
                <a:latin typeface="Arial Narrow" pitchFamily="34" charset="0"/>
              </a:rPr>
              <a:t>Blue Marlin Catch by Gear Type</a:t>
            </a:r>
            <a:endParaRPr lang="en-US" sz="2800" b="1" kern="0" dirty="0">
              <a:ln>
                <a:solidFill>
                  <a:schemeClr val="accent4"/>
                </a:solidFill>
              </a:ln>
              <a:solidFill>
                <a:schemeClr val="accent4">
                  <a:lumMod val="75000"/>
                  <a:lumOff val="25000"/>
                </a:schemeClr>
              </a:solidFill>
              <a:latin typeface="Arial Narrow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72" y="2286000"/>
            <a:ext cx="8008804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284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2"/>
          <p:cNvSpPr txBox="1">
            <a:spLocks noChangeArrowheads="1"/>
          </p:cNvSpPr>
          <p:nvPr/>
        </p:nvSpPr>
        <p:spPr bwMode="auto">
          <a:xfrm>
            <a:off x="2057400" y="228600"/>
            <a:ext cx="3581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600" kern="0" dirty="0" smtClean="0">
              <a:solidFill>
                <a:schemeClr val="bg1">
                  <a:lumMod val="95000"/>
                </a:schemeClr>
              </a:solidFill>
              <a:latin typeface="+mj-lt"/>
              <a:ea typeface="+mj-ea"/>
              <a:cs typeface="ヒラギノ角ゴ Pro W3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ヒラギノ角ゴ Pro W3"/>
              </a:rPr>
              <a:t>Pacific Islands Fisheries Science Center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ヒラギノ角ゴ Pro W3"/>
              </a:rPr>
              <a:t>Fisheries Research &amp; Monitoring Division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uLnTx/>
                <a:uFillTx/>
                <a:latin typeface="+mj-lt"/>
                <a:ea typeface="+mj-ea"/>
                <a:cs typeface="ヒラギノ角ゴ Pro W3"/>
              </a:rPr>
              <a:t/>
            </a:r>
            <a:b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uLnTx/>
                <a:uFillTx/>
                <a:latin typeface="+mj-lt"/>
                <a:ea typeface="+mj-ea"/>
                <a:cs typeface="ヒラギノ角ゴ Pro W3"/>
              </a:rPr>
            </a:b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95000"/>
                </a:schemeClr>
              </a:solidFill>
              <a:uLnTx/>
              <a:uFillTx/>
              <a:latin typeface="+mj-lt"/>
              <a:ea typeface="+mj-ea"/>
              <a:cs typeface="ヒラギノ角ゴ Pro W3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819400" y="1447800"/>
            <a:ext cx="60851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dirty="0" smtClean="0">
                <a:ln>
                  <a:solidFill>
                    <a:srgbClr val="000000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 Narrow" pitchFamily="34" charset="0"/>
              </a:rPr>
              <a:t>Number of Hawaii-based </a:t>
            </a:r>
            <a:r>
              <a:rPr lang="en-US" sz="2800" b="1" dirty="0" err="1" smtClean="0">
                <a:ln>
                  <a:solidFill>
                    <a:srgbClr val="000000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 Narrow" pitchFamily="34" charset="0"/>
              </a:rPr>
              <a:t>Longline</a:t>
            </a:r>
            <a:r>
              <a:rPr lang="en-US" sz="2800" b="1" dirty="0" smtClean="0">
                <a:ln>
                  <a:solidFill>
                    <a:srgbClr val="000000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 Narrow" pitchFamily="34" charset="0"/>
              </a:rPr>
              <a:t> Vessels</a:t>
            </a:r>
            <a:endParaRPr lang="en-US" sz="2800" b="1" dirty="0">
              <a:ln>
                <a:solidFill>
                  <a:srgbClr val="000000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 Narrow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438400"/>
            <a:ext cx="8032085" cy="3429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"/>
          <p:cNvSpPr txBox="1">
            <a:spLocks noChangeArrowheads="1"/>
          </p:cNvSpPr>
          <p:nvPr/>
        </p:nvSpPr>
        <p:spPr bwMode="auto">
          <a:xfrm>
            <a:off x="2057400" y="228600"/>
            <a:ext cx="3581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600" kern="0" dirty="0" smtClean="0">
              <a:solidFill>
                <a:schemeClr val="bg1">
                  <a:lumMod val="95000"/>
                </a:schemeClr>
              </a:solidFill>
              <a:latin typeface="+mj-lt"/>
              <a:ea typeface="+mj-ea"/>
              <a:cs typeface="ヒラギノ角ゴ Pro W3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ヒラギノ角ゴ Pro W3"/>
              </a:rPr>
              <a:t>Pacific Islands Fisheries Science Center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ヒラギノ角ゴ Pro W3"/>
              </a:rPr>
              <a:t>Fisheries Research &amp; Monitoring Division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uLnTx/>
                <a:uFillTx/>
                <a:latin typeface="+mj-lt"/>
                <a:ea typeface="+mj-ea"/>
                <a:cs typeface="ヒラギノ角ゴ Pro W3"/>
              </a:rPr>
              <a:t/>
            </a:r>
            <a:b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uLnTx/>
                <a:uFillTx/>
                <a:latin typeface="+mj-lt"/>
                <a:ea typeface="+mj-ea"/>
                <a:cs typeface="ヒラギノ角ゴ Pro W3"/>
              </a:rPr>
            </a:b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95000"/>
                </a:schemeClr>
              </a:solidFill>
              <a:uLnTx/>
              <a:uFillTx/>
              <a:latin typeface="+mj-lt"/>
              <a:ea typeface="+mj-ea"/>
              <a:cs typeface="ヒラギノ角ゴ Pro W3"/>
            </a:endParaRPr>
          </a:p>
        </p:txBody>
      </p:sp>
      <p:cxnSp>
        <p:nvCxnSpPr>
          <p:cNvPr id="162" name="Straight Arrow Connector 161"/>
          <p:cNvCxnSpPr/>
          <p:nvPr/>
        </p:nvCxnSpPr>
        <p:spPr bwMode="auto">
          <a:xfrm>
            <a:off x="3505200" y="2819400"/>
            <a:ext cx="1981200" cy="762000"/>
          </a:xfrm>
          <a:prstGeom prst="straightConnector1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67" name="Straight Arrow Connector 166"/>
          <p:cNvCxnSpPr/>
          <p:nvPr/>
        </p:nvCxnSpPr>
        <p:spPr bwMode="auto">
          <a:xfrm rot="10800000" flipV="1">
            <a:off x="1993346" y="2818143"/>
            <a:ext cx="1621929" cy="127603"/>
          </a:xfrm>
          <a:prstGeom prst="straightConnector1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69" name="Straight Arrow Connector 168"/>
          <p:cNvCxnSpPr/>
          <p:nvPr/>
        </p:nvCxnSpPr>
        <p:spPr bwMode="auto">
          <a:xfrm rot="10800000" flipV="1">
            <a:off x="1688546" y="2818143"/>
            <a:ext cx="1926729" cy="203803"/>
          </a:xfrm>
          <a:prstGeom prst="straightConnector1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5" name="TextBox 34"/>
          <p:cNvSpPr txBox="1"/>
          <p:nvPr/>
        </p:nvSpPr>
        <p:spPr>
          <a:xfrm>
            <a:off x="3079716" y="1295400"/>
            <a:ext cx="57406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dirty="0" smtClean="0">
                <a:ln>
                  <a:solidFill>
                    <a:srgbClr val="000000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 Narrow" pitchFamily="34" charset="0"/>
              </a:rPr>
              <a:t>Hawaii-based Longline Catch of Marlins</a:t>
            </a:r>
            <a:endParaRPr lang="en-US" sz="2800" b="1" dirty="0">
              <a:ln>
                <a:solidFill>
                  <a:srgbClr val="000000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 Narrow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160" y="2194110"/>
            <a:ext cx="8086298" cy="35970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057400" y="228600"/>
            <a:ext cx="3581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600" kern="0" dirty="0" smtClean="0">
              <a:solidFill>
                <a:schemeClr val="bg1">
                  <a:lumMod val="95000"/>
                </a:schemeClr>
              </a:solidFill>
              <a:latin typeface="+mj-lt"/>
              <a:ea typeface="+mj-ea"/>
              <a:cs typeface="ヒラギノ角ゴ Pro W3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ヒラギノ角ゴ Pro W3"/>
              </a:rPr>
              <a:t>Pacific Islands Fisheries Science Center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ヒラギノ角ゴ Pro W3"/>
              </a:rPr>
              <a:t>Fisheries Research &amp; Monitoring Division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uLnTx/>
                <a:uFillTx/>
                <a:latin typeface="+mj-lt"/>
                <a:ea typeface="+mj-ea"/>
                <a:cs typeface="ヒラギノ角ゴ Pro W3"/>
              </a:rPr>
              <a:t/>
            </a:r>
            <a:b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uLnTx/>
                <a:uFillTx/>
                <a:latin typeface="+mj-lt"/>
                <a:ea typeface="+mj-ea"/>
                <a:cs typeface="ヒラギノ角ゴ Pro W3"/>
              </a:rPr>
            </a:b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95000"/>
                </a:schemeClr>
              </a:solidFill>
              <a:uLnTx/>
              <a:uFillTx/>
              <a:latin typeface="+mj-lt"/>
              <a:ea typeface="+mj-ea"/>
              <a:cs typeface="ヒラギノ角ゴ Pro W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95001" y="1447800"/>
            <a:ext cx="73489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dirty="0" smtClean="0">
                <a:ln>
                  <a:solidFill>
                    <a:srgbClr val="000000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 Narrow" pitchFamily="34" charset="0"/>
              </a:rPr>
              <a:t>Hawaii-based Longline Marlin Catch by Area, 2019</a:t>
            </a:r>
            <a:endParaRPr lang="en-US" sz="2800" b="1" dirty="0">
              <a:ln>
                <a:solidFill>
                  <a:srgbClr val="000000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 Narrow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9" y="2280132"/>
            <a:ext cx="4062901" cy="379490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2304196"/>
            <a:ext cx="4209792" cy="39124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0" y="1143000"/>
            <a:ext cx="5334000" cy="838200"/>
          </a:xfrm>
        </p:spPr>
        <p:txBody>
          <a:bodyPr/>
          <a:lstStyle/>
          <a:p>
            <a:pPr algn="r"/>
            <a:r>
              <a:rPr lang="en-US" sz="2800" b="1" dirty="0" smtClean="0">
                <a:ln>
                  <a:solidFill>
                    <a:schemeClr val="accent4"/>
                  </a:solidFill>
                </a:ln>
                <a:solidFill>
                  <a:schemeClr val="accent4">
                    <a:lumMod val="75000"/>
                    <a:lumOff val="25000"/>
                  </a:schemeClr>
                </a:solidFill>
                <a:latin typeface="Arial Narrow" pitchFamily="34" charset="0"/>
              </a:rPr>
              <a:t>Hawaii-based Deep-set Longline </a:t>
            </a:r>
            <a:br>
              <a:rPr lang="en-US" sz="2800" b="1" dirty="0" smtClean="0">
                <a:ln>
                  <a:solidFill>
                    <a:schemeClr val="accent4"/>
                  </a:solidFill>
                </a:ln>
                <a:solidFill>
                  <a:schemeClr val="accent4">
                    <a:lumMod val="75000"/>
                    <a:lumOff val="25000"/>
                  </a:schemeClr>
                </a:solidFill>
                <a:latin typeface="Arial Narrow" pitchFamily="34" charset="0"/>
              </a:rPr>
            </a:br>
            <a:r>
              <a:rPr lang="en-US" sz="2800" b="1" dirty="0" smtClean="0">
                <a:ln>
                  <a:solidFill>
                    <a:schemeClr val="accent4"/>
                  </a:solidFill>
                </a:ln>
                <a:solidFill>
                  <a:schemeClr val="accent4">
                    <a:lumMod val="75000"/>
                    <a:lumOff val="25000"/>
                  </a:schemeClr>
                </a:solidFill>
                <a:latin typeface="Arial Narrow" pitchFamily="34" charset="0"/>
              </a:rPr>
              <a:t>Striped Marlin and Blue Marlin CPUE</a:t>
            </a:r>
            <a:endParaRPr lang="en-US" sz="2800" b="1" dirty="0">
              <a:ln>
                <a:solidFill>
                  <a:schemeClr val="accent4"/>
                </a:solidFill>
              </a:ln>
              <a:solidFill>
                <a:schemeClr val="accent4">
                  <a:lumMod val="75000"/>
                  <a:lumOff val="25000"/>
                </a:schemeClr>
              </a:solidFill>
              <a:latin typeface="Arial Narrow" pitchFamily="34" charset="0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2057400" y="228600"/>
            <a:ext cx="3581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600" kern="0" dirty="0" smtClean="0">
              <a:solidFill>
                <a:schemeClr val="bg1">
                  <a:lumMod val="95000"/>
                </a:schemeClr>
              </a:solidFill>
              <a:latin typeface="+mj-lt"/>
              <a:ea typeface="+mj-ea"/>
              <a:cs typeface="ヒラギノ角ゴ Pro W3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ヒラギノ角ゴ Pro W3"/>
              </a:rPr>
              <a:t>Pacific Islands Fisheries Science Center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ヒラギノ角ゴ Pro W3"/>
              </a:rPr>
              <a:t>Fisheries Research &amp; Monitoring Division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uLnTx/>
                <a:uFillTx/>
                <a:latin typeface="+mj-lt"/>
                <a:ea typeface="+mj-ea"/>
                <a:cs typeface="ヒラギノ角ゴ Pro W3"/>
              </a:rPr>
              <a:t/>
            </a:r>
            <a:b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uLnTx/>
                <a:uFillTx/>
                <a:latin typeface="+mj-lt"/>
                <a:ea typeface="+mj-ea"/>
                <a:cs typeface="ヒラギノ角ゴ Pro W3"/>
              </a:rPr>
            </a:b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95000"/>
                </a:schemeClr>
              </a:solidFill>
              <a:uLnTx/>
              <a:uFillTx/>
              <a:latin typeface="+mj-lt"/>
              <a:ea typeface="+mj-ea"/>
              <a:cs typeface="ヒラギノ角ゴ Pro W3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86000"/>
            <a:ext cx="8168588" cy="3962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1295400"/>
            <a:ext cx="6781800" cy="838200"/>
          </a:xfrm>
        </p:spPr>
        <p:txBody>
          <a:bodyPr/>
          <a:lstStyle/>
          <a:p>
            <a:pPr algn="r"/>
            <a:r>
              <a:rPr lang="en-US" sz="2800" b="1" dirty="0" smtClean="0">
                <a:ln>
                  <a:solidFill>
                    <a:srgbClr val="000000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 Narrow" pitchFamily="34" charset="0"/>
              </a:rPr>
              <a:t>Number of U.S. Commercial Troll Fishers</a:t>
            </a:r>
            <a:endParaRPr lang="en-US" sz="2800" b="1" dirty="0">
              <a:ln>
                <a:solidFill>
                  <a:srgbClr val="000000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 Narrow" pitchFamily="34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057400" y="228600"/>
            <a:ext cx="3581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600" kern="0" dirty="0" smtClean="0">
              <a:solidFill>
                <a:schemeClr val="bg1">
                  <a:lumMod val="95000"/>
                </a:schemeClr>
              </a:solidFill>
              <a:latin typeface="+mj-lt"/>
              <a:ea typeface="+mj-ea"/>
              <a:cs typeface="ヒラギノ角ゴ Pro W3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ヒラギノ角ゴ Pro W3"/>
              </a:rPr>
              <a:t>Pacific Islands Fisheries Science Center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ヒラギノ角ゴ Pro W3"/>
              </a:rPr>
              <a:t>Fisheries Research &amp; Monitoring Division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uLnTx/>
                <a:uFillTx/>
                <a:latin typeface="+mj-lt"/>
                <a:ea typeface="+mj-ea"/>
                <a:cs typeface="ヒラギノ角ゴ Pro W3"/>
              </a:rPr>
              <a:t/>
            </a:r>
            <a:b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uLnTx/>
                <a:uFillTx/>
                <a:latin typeface="+mj-lt"/>
                <a:ea typeface="+mj-ea"/>
                <a:cs typeface="ヒラギノ角ゴ Pro W3"/>
              </a:rPr>
            </a:b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95000"/>
                </a:schemeClr>
              </a:solidFill>
              <a:uLnTx/>
              <a:uFillTx/>
              <a:latin typeface="+mj-lt"/>
              <a:ea typeface="+mj-ea"/>
              <a:cs typeface="ヒラギノ角ゴ Pro W3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209800"/>
            <a:ext cx="8120729" cy="381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1219200"/>
            <a:ext cx="6629400" cy="762000"/>
          </a:xfrm>
          <a:ln>
            <a:noFill/>
          </a:ln>
        </p:spPr>
        <p:txBody>
          <a:bodyPr/>
          <a:lstStyle/>
          <a:p>
            <a:pPr algn="r"/>
            <a:r>
              <a:rPr lang="en-US" sz="2800" b="1" dirty="0" smtClean="0">
                <a:ln>
                  <a:solidFill>
                    <a:schemeClr val="accent4"/>
                  </a:solidFill>
                </a:ln>
                <a:solidFill>
                  <a:schemeClr val="accent4">
                    <a:lumMod val="75000"/>
                    <a:lumOff val="25000"/>
                  </a:schemeClr>
                </a:solidFill>
                <a:latin typeface="Arial Narrow" pitchFamily="34" charset="0"/>
              </a:rPr>
              <a:t>U.S. Commercial Troll Catch of Marlins</a:t>
            </a:r>
            <a:endParaRPr lang="en-US" sz="2800" b="1" dirty="0">
              <a:ln>
                <a:solidFill>
                  <a:schemeClr val="accent4"/>
                </a:solidFill>
              </a:ln>
              <a:solidFill>
                <a:schemeClr val="accent4">
                  <a:lumMod val="75000"/>
                  <a:lumOff val="25000"/>
                </a:schemeClr>
              </a:solidFill>
              <a:latin typeface="Arial Narrow" pitchFamily="34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057400" y="228600"/>
            <a:ext cx="3581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600" kern="0" dirty="0" smtClean="0">
              <a:solidFill>
                <a:schemeClr val="bg1">
                  <a:lumMod val="95000"/>
                </a:schemeClr>
              </a:solidFill>
              <a:latin typeface="+mj-lt"/>
              <a:ea typeface="+mj-ea"/>
              <a:cs typeface="ヒラギノ角ゴ Pro W3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ヒラギノ角ゴ Pro W3"/>
              </a:rPr>
              <a:t>Pacific Islands Fisheries Science Center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ヒラギノ角ゴ Pro W3"/>
              </a:rPr>
              <a:t>Fisheries Research &amp; Monitoring Division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uLnTx/>
                <a:uFillTx/>
                <a:latin typeface="+mj-lt"/>
                <a:ea typeface="+mj-ea"/>
                <a:cs typeface="ヒラギノ角ゴ Pro W3"/>
              </a:rPr>
              <a:t/>
            </a:r>
            <a:b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uLnTx/>
                <a:uFillTx/>
                <a:latin typeface="+mj-lt"/>
                <a:ea typeface="+mj-ea"/>
                <a:cs typeface="ヒラギノ角ゴ Pro W3"/>
              </a:rPr>
            </a:b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95000"/>
                </a:schemeClr>
              </a:solidFill>
              <a:uLnTx/>
              <a:uFillTx/>
              <a:latin typeface="+mj-lt"/>
              <a:ea typeface="+mj-ea"/>
              <a:cs typeface="ヒラギノ角ゴ Pro W3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286000"/>
            <a:ext cx="8177994" cy="3581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371600"/>
            <a:ext cx="7010400" cy="838200"/>
          </a:xfrm>
        </p:spPr>
        <p:txBody>
          <a:bodyPr/>
          <a:lstStyle/>
          <a:p>
            <a:pPr algn="r"/>
            <a:r>
              <a:rPr lang="en-US" sz="2800" b="1" dirty="0" smtClean="0">
                <a:ln>
                  <a:solidFill>
                    <a:schemeClr val="accent4"/>
                  </a:solidFill>
                </a:ln>
                <a:solidFill>
                  <a:schemeClr val="accent4">
                    <a:lumMod val="75000"/>
                    <a:lumOff val="25000"/>
                  </a:schemeClr>
                </a:solidFill>
                <a:latin typeface="Arial Narrow" pitchFamily="34" charset="0"/>
              </a:rPr>
              <a:t>Hawaii Troll Striped and Blue Marlin CPUE</a:t>
            </a:r>
            <a:endParaRPr lang="en-US" sz="2800" dirty="0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057400" y="228600"/>
            <a:ext cx="3581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600" kern="0" dirty="0" smtClean="0">
              <a:solidFill>
                <a:schemeClr val="bg1">
                  <a:lumMod val="95000"/>
                </a:schemeClr>
              </a:solidFill>
              <a:latin typeface="+mj-lt"/>
              <a:ea typeface="+mj-ea"/>
              <a:cs typeface="ヒラギノ角ゴ Pro W3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ヒラギノ角ゴ Pro W3"/>
              </a:rPr>
              <a:t>Pacific Islands Fisheries Science Center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ヒラギノ角ゴ Pro W3"/>
              </a:rPr>
              <a:t>Fisheries Research &amp; Monitoring Division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uLnTx/>
                <a:uFillTx/>
                <a:latin typeface="+mj-lt"/>
                <a:ea typeface="+mj-ea"/>
                <a:cs typeface="ヒラギノ角ゴ Pro W3"/>
              </a:rPr>
              <a:t/>
            </a:r>
            <a:b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uLnTx/>
                <a:uFillTx/>
                <a:latin typeface="+mj-lt"/>
                <a:ea typeface="+mj-ea"/>
                <a:cs typeface="ヒラギノ角ゴ Pro W3"/>
              </a:rPr>
            </a:b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95000"/>
                </a:schemeClr>
              </a:solidFill>
              <a:uLnTx/>
              <a:uFillTx/>
              <a:latin typeface="+mj-lt"/>
              <a:ea typeface="+mj-ea"/>
              <a:cs typeface="ヒラギノ角ゴ Pro W3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232546"/>
            <a:ext cx="8129515" cy="401585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1143000"/>
            <a:ext cx="6019800" cy="838200"/>
          </a:xfrm>
        </p:spPr>
        <p:txBody>
          <a:bodyPr/>
          <a:lstStyle/>
          <a:p>
            <a:pPr algn="r"/>
            <a:r>
              <a:rPr lang="en-US" sz="2800" b="1" dirty="0" smtClean="0">
                <a:ln>
                  <a:solidFill>
                    <a:srgbClr val="000000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 Narrow" pitchFamily="34" charset="0"/>
              </a:rPr>
              <a:t>Number of Hawaii </a:t>
            </a:r>
            <a:r>
              <a:rPr lang="en-US" sz="2800" b="1" dirty="0" err="1" smtClean="0">
                <a:ln>
                  <a:solidFill>
                    <a:srgbClr val="000000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 Narrow" pitchFamily="34" charset="0"/>
              </a:rPr>
              <a:t>Handline</a:t>
            </a:r>
            <a:r>
              <a:rPr lang="en-US" sz="2800" b="1" dirty="0" smtClean="0">
                <a:ln>
                  <a:solidFill>
                    <a:srgbClr val="000000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 Narrow" pitchFamily="34" charset="0"/>
              </a:rPr>
              <a:t> Fishers</a:t>
            </a:r>
            <a:endParaRPr lang="en-US" sz="2800" b="1" dirty="0">
              <a:ln>
                <a:solidFill>
                  <a:srgbClr val="000000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 Narrow" pitchFamily="34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057400" y="228600"/>
            <a:ext cx="3581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600" kern="0" dirty="0" smtClean="0">
              <a:solidFill>
                <a:schemeClr val="bg1">
                  <a:lumMod val="95000"/>
                </a:schemeClr>
              </a:solidFill>
              <a:latin typeface="+mj-lt"/>
              <a:ea typeface="+mj-ea"/>
              <a:cs typeface="ヒラギノ角ゴ Pro W3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ヒラギノ角ゴ Pro W3"/>
              </a:rPr>
              <a:t>Pacific Islands Fisheries Science Center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ヒラギノ角ゴ Pro W3"/>
              </a:rPr>
              <a:t>Fisheries Research &amp; Monitoring Division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uLnTx/>
                <a:uFillTx/>
                <a:latin typeface="+mj-lt"/>
                <a:ea typeface="+mj-ea"/>
                <a:cs typeface="ヒラギノ角ゴ Pro W3"/>
              </a:rPr>
              <a:t/>
            </a:r>
            <a:b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uLnTx/>
                <a:uFillTx/>
                <a:latin typeface="+mj-lt"/>
                <a:ea typeface="+mj-ea"/>
                <a:cs typeface="ヒラギノ角ゴ Pro W3"/>
              </a:rPr>
            </a:b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95000"/>
                </a:schemeClr>
              </a:solidFill>
              <a:uLnTx/>
              <a:uFillTx/>
              <a:latin typeface="+mj-lt"/>
              <a:ea typeface="+mj-ea"/>
              <a:cs typeface="ヒラギノ角ゴ Pro W3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09800"/>
            <a:ext cx="8320416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1800" y="1143000"/>
            <a:ext cx="5943600" cy="838200"/>
          </a:xfrm>
          <a:ln>
            <a:noFill/>
          </a:ln>
        </p:spPr>
        <p:txBody>
          <a:bodyPr/>
          <a:lstStyle/>
          <a:p>
            <a:pPr algn="r"/>
            <a:r>
              <a:rPr lang="en-US" sz="2800" b="1" dirty="0" smtClean="0">
                <a:ln>
                  <a:solidFill>
                    <a:schemeClr val="accent4"/>
                  </a:solidFill>
                </a:ln>
                <a:solidFill>
                  <a:schemeClr val="accent4">
                    <a:lumMod val="75000"/>
                    <a:lumOff val="25000"/>
                  </a:schemeClr>
                </a:solidFill>
                <a:latin typeface="Arial Narrow" pitchFamily="34" charset="0"/>
              </a:rPr>
              <a:t>Hawaii </a:t>
            </a:r>
            <a:r>
              <a:rPr lang="en-US" sz="2800" b="1" dirty="0" err="1" smtClean="0">
                <a:ln>
                  <a:solidFill>
                    <a:schemeClr val="accent4"/>
                  </a:solidFill>
                </a:ln>
                <a:solidFill>
                  <a:schemeClr val="accent4">
                    <a:lumMod val="75000"/>
                    <a:lumOff val="25000"/>
                  </a:schemeClr>
                </a:solidFill>
                <a:latin typeface="Arial Narrow" pitchFamily="34" charset="0"/>
              </a:rPr>
              <a:t>Handline</a:t>
            </a:r>
            <a:r>
              <a:rPr lang="en-US" sz="2800" b="1" dirty="0" smtClean="0">
                <a:ln>
                  <a:solidFill>
                    <a:schemeClr val="accent4"/>
                  </a:solidFill>
                </a:ln>
                <a:solidFill>
                  <a:schemeClr val="accent4">
                    <a:lumMod val="75000"/>
                    <a:lumOff val="25000"/>
                  </a:schemeClr>
                </a:solidFill>
                <a:latin typeface="Arial Narrow" pitchFamily="34" charset="0"/>
              </a:rPr>
              <a:t> Marlin Catch</a:t>
            </a:r>
            <a:endParaRPr lang="en-US" sz="2800" b="1" dirty="0">
              <a:ln>
                <a:solidFill>
                  <a:schemeClr val="accent4"/>
                </a:solidFill>
              </a:ln>
              <a:solidFill>
                <a:schemeClr val="accent4">
                  <a:lumMod val="75000"/>
                  <a:lumOff val="25000"/>
                </a:schemeClr>
              </a:solidFill>
              <a:latin typeface="Arial Narrow" pitchFamily="34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057400" y="228600"/>
            <a:ext cx="3581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600" kern="0" dirty="0" smtClean="0">
              <a:solidFill>
                <a:schemeClr val="bg1">
                  <a:lumMod val="95000"/>
                </a:schemeClr>
              </a:solidFill>
              <a:latin typeface="+mj-lt"/>
              <a:ea typeface="+mj-ea"/>
              <a:cs typeface="ヒラギノ角ゴ Pro W3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ヒラギノ角ゴ Pro W3"/>
              </a:rPr>
              <a:t>Pacific Islands Fisheries Science Center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ヒラギノ角ゴ Pro W3"/>
              </a:rPr>
              <a:t>Fisheries Research &amp; Monitoring Division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uLnTx/>
                <a:uFillTx/>
                <a:latin typeface="+mj-lt"/>
                <a:ea typeface="+mj-ea"/>
                <a:cs typeface="ヒラギノ角ゴ Pro W3"/>
              </a:rPr>
              <a:t/>
            </a:r>
            <a:b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uLnTx/>
                <a:uFillTx/>
                <a:latin typeface="+mj-lt"/>
                <a:ea typeface="+mj-ea"/>
                <a:cs typeface="ヒラギノ角ゴ Pro W3"/>
              </a:rPr>
            </a:b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95000"/>
                </a:schemeClr>
              </a:solidFill>
              <a:uLnTx/>
              <a:uFillTx/>
              <a:latin typeface="+mj-lt"/>
              <a:ea typeface="+mj-ea"/>
              <a:cs typeface="ヒラギノ角ゴ Pro W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33600" y="2362200"/>
            <a:ext cx="4796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chemeClr val="bg1"/>
                </a:solidFill>
                <a:latin typeface="Arial Narrow" pitchFamily="34" charset="0"/>
              </a:rPr>
              <a:t>99%</a:t>
            </a:r>
            <a:endParaRPr lang="en-US" sz="1400" b="1" dirty="0">
              <a:solidFill>
                <a:schemeClr val="bg1"/>
              </a:solidFill>
              <a:latin typeface="Arial Narrow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9200" y="2514600"/>
            <a:ext cx="4796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chemeClr val="bg1"/>
                </a:solidFill>
                <a:latin typeface="Arial Narrow" pitchFamily="34" charset="0"/>
              </a:rPr>
              <a:t>95%</a:t>
            </a:r>
            <a:endParaRPr lang="en-US" sz="1400" b="1" dirty="0">
              <a:solidFill>
                <a:schemeClr val="bg1"/>
              </a:solidFill>
              <a:latin typeface="Arial Narrow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09800"/>
            <a:ext cx="8298769" cy="411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124200" y="914400"/>
            <a:ext cx="6019800" cy="838200"/>
          </a:xfrm>
          <a:ln>
            <a:noFill/>
          </a:ln>
        </p:spPr>
        <p:txBody>
          <a:bodyPr/>
          <a:lstStyle/>
          <a:p>
            <a:pPr algn="r"/>
            <a:r>
              <a:rPr lang="en-US" sz="2800" b="1" dirty="0" smtClean="0">
                <a:ln>
                  <a:solidFill>
                    <a:schemeClr val="accent4"/>
                  </a:solidFill>
                </a:ln>
                <a:solidFill>
                  <a:schemeClr val="accent4">
                    <a:lumMod val="75000"/>
                    <a:lumOff val="25000"/>
                  </a:schemeClr>
                </a:solidFill>
                <a:latin typeface="Arial Narrow" pitchFamily="34" charset="0"/>
              </a:rPr>
              <a:t>Weight-frequency Histograms </a:t>
            </a:r>
            <a:br>
              <a:rPr lang="en-US" sz="2800" b="1" dirty="0" smtClean="0">
                <a:ln>
                  <a:solidFill>
                    <a:schemeClr val="accent4"/>
                  </a:solidFill>
                </a:ln>
                <a:solidFill>
                  <a:schemeClr val="accent4">
                    <a:lumMod val="75000"/>
                    <a:lumOff val="25000"/>
                  </a:schemeClr>
                </a:solidFill>
                <a:latin typeface="Arial Narrow" pitchFamily="34" charset="0"/>
              </a:rPr>
            </a:br>
            <a:r>
              <a:rPr lang="en-US" sz="2800" b="1" dirty="0" smtClean="0">
                <a:ln>
                  <a:solidFill>
                    <a:schemeClr val="accent4"/>
                  </a:solidFill>
                </a:ln>
                <a:solidFill>
                  <a:schemeClr val="accent4">
                    <a:lumMod val="75000"/>
                    <a:lumOff val="25000"/>
                  </a:schemeClr>
                </a:solidFill>
                <a:latin typeface="Arial Narrow" pitchFamily="34" charset="0"/>
              </a:rPr>
              <a:t>of Striped Marlin and Blue Marlin, 2019</a:t>
            </a:r>
            <a:endParaRPr lang="en-US" sz="2800" b="1" dirty="0">
              <a:ln>
                <a:solidFill>
                  <a:schemeClr val="accent4"/>
                </a:solidFill>
              </a:ln>
              <a:solidFill>
                <a:schemeClr val="accent4">
                  <a:lumMod val="75000"/>
                  <a:lumOff val="25000"/>
                </a:schemeClr>
              </a:solidFill>
              <a:latin typeface="Arial Narrow" pitchFamily="34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057400" y="228600"/>
            <a:ext cx="3581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600" kern="0" dirty="0" smtClean="0">
              <a:solidFill>
                <a:schemeClr val="bg1">
                  <a:lumMod val="95000"/>
                </a:schemeClr>
              </a:solidFill>
              <a:latin typeface="+mj-lt"/>
              <a:ea typeface="+mj-ea"/>
              <a:cs typeface="ヒラギノ角ゴ Pro W3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ヒラギノ角ゴ Pro W3"/>
              </a:rPr>
              <a:t>Pacific Islands Fisheries Science Center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ヒラギノ角ゴ Pro W3"/>
              </a:rPr>
              <a:t>Fisheries Research &amp; Monitoring Division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uLnTx/>
                <a:uFillTx/>
                <a:latin typeface="+mj-lt"/>
                <a:ea typeface="+mj-ea"/>
                <a:cs typeface="ヒラギノ角ゴ Pro W3"/>
              </a:rPr>
              <a:t/>
            </a:r>
            <a:b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uLnTx/>
                <a:uFillTx/>
                <a:latin typeface="+mj-lt"/>
                <a:ea typeface="+mj-ea"/>
                <a:cs typeface="ヒラギノ角ゴ Pro W3"/>
              </a:rPr>
            </a:b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95000"/>
                </a:schemeClr>
              </a:solidFill>
              <a:uLnTx/>
              <a:uFillTx/>
              <a:latin typeface="+mj-lt"/>
              <a:ea typeface="+mj-ea"/>
              <a:cs typeface="ヒラギノ角ゴ Pro W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33800" y="1981200"/>
            <a:ext cx="18630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 smtClean="0">
                <a:ln>
                  <a:solidFill>
                    <a:srgbClr val="000000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 Narrow" pitchFamily="34" charset="0"/>
              </a:rPr>
              <a:t>Longline</a:t>
            </a:r>
            <a:r>
              <a:rPr lang="en-US" sz="2000" b="1" dirty="0" smtClean="0">
                <a:ln>
                  <a:solidFill>
                    <a:srgbClr val="000000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 Narrow" pitchFamily="34" charset="0"/>
              </a:rPr>
              <a:t> Fishery</a:t>
            </a:r>
            <a:endParaRPr lang="en-US" sz="2000" b="1" dirty="0">
              <a:ln>
                <a:solidFill>
                  <a:srgbClr val="000000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 Narrow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124200" y="4419600"/>
            <a:ext cx="29815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ln>
                  <a:solidFill>
                    <a:srgbClr val="000000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 Narrow" pitchFamily="34" charset="0"/>
              </a:rPr>
              <a:t>Troll and </a:t>
            </a:r>
            <a:r>
              <a:rPr lang="en-US" sz="2000" b="1" dirty="0" err="1" smtClean="0">
                <a:ln>
                  <a:solidFill>
                    <a:srgbClr val="000000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 Narrow" pitchFamily="34" charset="0"/>
              </a:rPr>
              <a:t>Handline</a:t>
            </a:r>
            <a:r>
              <a:rPr lang="en-US" sz="2000" b="1" dirty="0" smtClean="0">
                <a:ln>
                  <a:solidFill>
                    <a:srgbClr val="000000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 Narrow" pitchFamily="34" charset="0"/>
              </a:rPr>
              <a:t> Fisheries</a:t>
            </a:r>
            <a:endParaRPr lang="en-US" sz="2000" b="1" dirty="0">
              <a:ln>
                <a:solidFill>
                  <a:srgbClr val="000000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Arial Narrow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179" y="2434327"/>
            <a:ext cx="3468950" cy="204979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147" y="2434326"/>
            <a:ext cx="3533939" cy="198527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4761609"/>
            <a:ext cx="3366929" cy="19832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2147" y="4819710"/>
            <a:ext cx="3533939" cy="20382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3276600" y="914400"/>
            <a:ext cx="5715000" cy="1143000"/>
          </a:xfrm>
        </p:spPr>
        <p:txBody>
          <a:bodyPr/>
          <a:lstStyle/>
          <a:p>
            <a:r>
              <a:rPr lang="en-US" sz="2800" b="1" dirty="0" smtClean="0">
                <a:ln>
                  <a:solidFill>
                    <a:srgbClr val="000000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 Narrow" pitchFamily="34" charset="0"/>
              </a:rPr>
              <a:t>Overview of U.S. Commercial Fisheries </a:t>
            </a:r>
            <a:br>
              <a:rPr lang="en-US" sz="2800" b="1" dirty="0" smtClean="0">
                <a:ln>
                  <a:solidFill>
                    <a:srgbClr val="000000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 Narrow" pitchFamily="34" charset="0"/>
              </a:rPr>
            </a:br>
            <a:r>
              <a:rPr lang="en-US" sz="2800" b="1" dirty="0" smtClean="0">
                <a:ln>
                  <a:solidFill>
                    <a:srgbClr val="000000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 Narrow" pitchFamily="34" charset="0"/>
              </a:rPr>
              <a:t>for Marlins in the North Pacific Ocean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458200" cy="2819400"/>
          </a:xfrm>
        </p:spPr>
        <p:txBody>
          <a:bodyPr/>
          <a:lstStyle/>
          <a:p>
            <a:r>
              <a:rPr lang="en-US" sz="1800" b="1" dirty="0" smtClean="0">
                <a:ln>
                  <a:solidFill>
                    <a:srgbClr val="000000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*Blue and striped marlins are the largest components of the U.S. commercial fisheries marlin catch</a:t>
            </a:r>
          </a:p>
          <a:p>
            <a:r>
              <a:rPr lang="en-US" sz="1800" b="1" dirty="0" smtClean="0">
                <a:ln>
                  <a:solidFill>
                    <a:srgbClr val="000000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*</a:t>
            </a:r>
            <a:r>
              <a:rPr lang="en-US" sz="1800" b="1" dirty="0" err="1" smtClean="0">
                <a:ln>
                  <a:solidFill>
                    <a:srgbClr val="000000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Longline</a:t>
            </a:r>
            <a:r>
              <a:rPr lang="en-US" sz="1800" b="1" dirty="0" smtClean="0">
                <a:ln>
                  <a:solidFill>
                    <a:srgbClr val="000000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 fishery is the largest commercial fishery for marlins</a:t>
            </a:r>
          </a:p>
          <a:p>
            <a:r>
              <a:rPr lang="en-US" sz="1800" b="1" dirty="0" smtClean="0">
                <a:ln>
                  <a:solidFill>
                    <a:srgbClr val="000000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*CPUE for striped and blue marlin declined from early 1990s &amp; remain relatively low</a:t>
            </a:r>
          </a:p>
          <a:p>
            <a:r>
              <a:rPr lang="en-US" sz="1800" b="1" dirty="0" smtClean="0">
                <a:ln>
                  <a:solidFill>
                    <a:srgbClr val="000000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*Striped marlin caught mainly by the longline fishery </a:t>
            </a:r>
          </a:p>
          <a:p>
            <a:r>
              <a:rPr lang="en-US" sz="1800" b="1" dirty="0" smtClean="0">
                <a:ln>
                  <a:solidFill>
                    <a:srgbClr val="000000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*Blue marlin caught by both the troll and </a:t>
            </a:r>
            <a:r>
              <a:rPr lang="en-US" sz="1800" b="1" dirty="0" err="1" smtClean="0">
                <a:ln>
                  <a:solidFill>
                    <a:srgbClr val="000000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longline</a:t>
            </a:r>
            <a:r>
              <a:rPr lang="en-US" sz="1800" b="1" dirty="0" smtClean="0">
                <a:ln>
                  <a:solidFill>
                    <a:srgbClr val="000000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 fishery</a:t>
            </a:r>
          </a:p>
          <a:p>
            <a:r>
              <a:rPr lang="en-US" sz="1800" b="1" dirty="0" smtClean="0">
                <a:ln>
                  <a:solidFill>
                    <a:srgbClr val="000000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</a:rPr>
              <a:t>*Marlin size distribution similar for both longline and troll fisheries</a:t>
            </a:r>
          </a:p>
          <a:p>
            <a:endParaRPr lang="en-US" sz="1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sz="1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Tx/>
              <a:buNone/>
            </a:pPr>
            <a:endParaRPr lang="en-US" sz="1800" b="1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057400" y="228600"/>
            <a:ext cx="3581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600" kern="0" dirty="0" smtClean="0">
              <a:solidFill>
                <a:schemeClr val="bg1">
                  <a:lumMod val="95000"/>
                </a:schemeClr>
              </a:solidFill>
              <a:latin typeface="+mj-lt"/>
              <a:ea typeface="+mj-ea"/>
              <a:cs typeface="ヒラギノ角ゴ Pro W3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ヒラギノ角ゴ Pro W3"/>
              </a:rPr>
              <a:t>Pacific Islands Fisheries Science Center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ヒラギノ角ゴ Pro W3"/>
              </a:rPr>
              <a:t>Fisheries Research &amp; Monitoring Division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uLnTx/>
                <a:uFillTx/>
                <a:latin typeface="+mj-lt"/>
                <a:ea typeface="+mj-ea"/>
                <a:cs typeface="ヒラギノ角ゴ Pro W3"/>
              </a:rPr>
              <a:t/>
            </a:r>
            <a:b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uLnTx/>
                <a:uFillTx/>
                <a:latin typeface="+mj-lt"/>
                <a:ea typeface="+mj-ea"/>
                <a:cs typeface="ヒラギノ角ゴ Pro W3"/>
              </a:rPr>
            </a:b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95000"/>
                </a:schemeClr>
              </a:solidFill>
              <a:uLnTx/>
              <a:uFillTx/>
              <a:latin typeface="+mj-lt"/>
              <a:ea typeface="+mj-ea"/>
              <a:cs typeface="ヒラギノ角ゴ Pro W3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4724400"/>
            <a:ext cx="3824324" cy="2209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724400"/>
            <a:ext cx="5334000" cy="222584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362200" y="1143000"/>
            <a:ext cx="6019800" cy="838200"/>
          </a:xfrm>
        </p:spPr>
        <p:txBody>
          <a:bodyPr/>
          <a:lstStyle/>
          <a:p>
            <a:pPr algn="ctr"/>
            <a:r>
              <a:rPr lang="en-US" sz="2800" b="1" dirty="0" smtClean="0">
                <a:ln>
                  <a:solidFill>
                    <a:srgbClr val="052909"/>
                  </a:solidFill>
                </a:ln>
                <a:solidFill>
                  <a:schemeClr val="accent4">
                    <a:lumMod val="75000"/>
                    <a:lumOff val="25000"/>
                  </a:schemeClr>
                </a:solidFill>
                <a:latin typeface="Arial Narrow" pitchFamily="34" charset="0"/>
              </a:rPr>
              <a:t>Recent Developments</a:t>
            </a:r>
            <a:endParaRPr lang="en-US" sz="2800" b="1" dirty="0">
              <a:ln>
                <a:solidFill>
                  <a:srgbClr val="052909"/>
                </a:solidFill>
              </a:ln>
              <a:solidFill>
                <a:schemeClr val="accent4">
                  <a:lumMod val="75000"/>
                  <a:lumOff val="25000"/>
                </a:schemeClr>
              </a:solidFill>
              <a:latin typeface="Arial Narrow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2209800"/>
            <a:ext cx="78486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n>
                  <a:solidFill>
                    <a:srgbClr val="000000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*Effects of Covid-19 on fishing activity &amp; fish market</a:t>
            </a:r>
          </a:p>
          <a:p>
            <a:r>
              <a:rPr lang="en-US" sz="2800" b="1" dirty="0" smtClean="0">
                <a:ln>
                  <a:solidFill>
                    <a:srgbClr val="000000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*Reopening the false killer whale Southern </a:t>
            </a:r>
            <a:r>
              <a:rPr lang="en-US" sz="2800" b="1" dirty="0" smtClean="0">
                <a:ln>
                  <a:solidFill>
                    <a:srgbClr val="000000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Exclusion </a:t>
            </a:r>
            <a:r>
              <a:rPr lang="en-US" sz="2800" b="1" dirty="0" smtClean="0">
                <a:ln>
                  <a:solidFill>
                    <a:srgbClr val="000000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Zone</a:t>
            </a:r>
          </a:p>
          <a:p>
            <a:endParaRPr lang="en-US" sz="2800" b="1" dirty="0" smtClean="0">
              <a:ln>
                <a:solidFill>
                  <a:srgbClr val="000000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endParaRPr lang="en-US" sz="2800" b="1" dirty="0" smtClean="0">
              <a:ln>
                <a:solidFill>
                  <a:srgbClr val="000000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endParaRPr lang="en-US" sz="2800" b="1" dirty="0">
              <a:ln>
                <a:solidFill>
                  <a:srgbClr val="000000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2057400" y="228600"/>
            <a:ext cx="3581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600" kern="0" dirty="0" smtClean="0">
              <a:solidFill>
                <a:schemeClr val="bg1">
                  <a:lumMod val="95000"/>
                </a:schemeClr>
              </a:solidFill>
              <a:latin typeface="+mj-lt"/>
              <a:ea typeface="+mj-ea"/>
              <a:cs typeface="ヒラギノ角ゴ Pro W3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ヒラギノ角ゴ Pro W3"/>
              </a:rPr>
              <a:t>Pacific Islands Fisheries Science Center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ヒラギノ角ゴ Pro W3"/>
              </a:rPr>
              <a:t>Fisheries Research &amp; Monitoring Division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uLnTx/>
                <a:uFillTx/>
                <a:latin typeface="+mj-lt"/>
                <a:ea typeface="+mj-ea"/>
                <a:cs typeface="ヒラギノ角ゴ Pro W3"/>
              </a:rPr>
              <a:t/>
            </a:r>
            <a:b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uLnTx/>
                <a:uFillTx/>
                <a:latin typeface="+mj-lt"/>
                <a:ea typeface="+mj-ea"/>
                <a:cs typeface="ヒラギノ角ゴ Pro W3"/>
              </a:rPr>
            </a:b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95000"/>
                </a:schemeClr>
              </a:solidFill>
              <a:uLnTx/>
              <a:uFillTx/>
              <a:latin typeface="+mj-lt"/>
              <a:ea typeface="+mj-ea"/>
              <a:cs typeface="ヒラギノ角ゴ Pro W3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800" y="3959392"/>
            <a:ext cx="3886200" cy="29146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200" y="3959392"/>
            <a:ext cx="5219700" cy="29690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143000"/>
            <a:ext cx="6477000" cy="838200"/>
          </a:xfrm>
        </p:spPr>
        <p:txBody>
          <a:bodyPr/>
          <a:lstStyle/>
          <a:p>
            <a:r>
              <a:rPr lang="en-US" dirty="0" smtClean="0"/>
              <a:t>Annual Mean length from PIROP data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362200"/>
            <a:ext cx="8572503" cy="3429000"/>
          </a:xfrm>
        </p:spPr>
      </p:pic>
    </p:spTree>
    <p:extLst>
      <p:ext uri="{BB962C8B-B14F-4D97-AF65-F5344CB8AC3E}">
        <p14:creationId xmlns:p14="http://schemas.microsoft.com/office/powerpoint/2010/main" val="26377265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1143000"/>
            <a:ext cx="7162800" cy="838200"/>
          </a:xfrm>
        </p:spPr>
        <p:txBody>
          <a:bodyPr/>
          <a:lstStyle/>
          <a:p>
            <a:r>
              <a:rPr lang="en-US" sz="2200" dirty="0" smtClean="0"/>
              <a:t>Histogram of lengths overall and by quarter</a:t>
            </a:r>
            <a:endParaRPr lang="en-US" sz="2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9940" y="2098430"/>
            <a:ext cx="4349260" cy="43492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40" y="2098430"/>
            <a:ext cx="4349260" cy="4349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0840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Density of lengths by: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14600"/>
            <a:ext cx="4572000" cy="3429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885" y="2514600"/>
            <a:ext cx="4572000" cy="3429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931877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Set (deep vs shallow)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648200" y="5946531"/>
            <a:ext cx="426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Sex (female, male, unknown)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3103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Spatial distribution of mean length overall and by quarter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11"/>
          <a:stretch/>
        </p:blipFill>
        <p:spPr>
          <a:xfrm>
            <a:off x="3634143" y="1981200"/>
            <a:ext cx="5486411" cy="48768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209800"/>
            <a:ext cx="3657607" cy="365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3251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sz="2800" b="1" dirty="0" smtClean="0">
                <a:ln>
                  <a:solidFill>
                    <a:schemeClr val="accent4"/>
                  </a:solidFill>
                </a:ln>
                <a:solidFill>
                  <a:schemeClr val="accent4">
                    <a:lumMod val="75000"/>
                    <a:lumOff val="25000"/>
                  </a:schemeClr>
                </a:solidFill>
                <a:latin typeface="Arial Narrow" pitchFamily="34" charset="0"/>
              </a:rPr>
              <a:t>Acknowledgements</a:t>
            </a:r>
            <a:endParaRPr lang="en-US" sz="2800" b="1" dirty="0">
              <a:ln>
                <a:solidFill>
                  <a:schemeClr val="accent4"/>
                </a:solidFill>
              </a:ln>
              <a:solidFill>
                <a:schemeClr val="accent4">
                  <a:lumMod val="75000"/>
                  <a:lumOff val="25000"/>
                </a:schemeClr>
              </a:solidFill>
              <a:latin typeface="Arial Narrow" pitchFamily="34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2057400" y="228600"/>
            <a:ext cx="3581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600" kern="0" dirty="0" smtClean="0">
              <a:solidFill>
                <a:schemeClr val="bg1">
                  <a:lumMod val="95000"/>
                </a:schemeClr>
              </a:solidFill>
              <a:latin typeface="+mj-lt"/>
              <a:ea typeface="+mj-ea"/>
              <a:cs typeface="ヒラギノ角ゴ Pro W3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ヒラギノ角ゴ Pro W3"/>
              </a:rPr>
              <a:t>Pacific Islands Fisheries Science Center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kern="0" dirty="0" smtClean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ヒラギノ角ゴ Pro W3"/>
              </a:rPr>
              <a:t>Fisheries Research &amp; Monitoring Division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uLnTx/>
                <a:uFillTx/>
                <a:latin typeface="+mj-lt"/>
                <a:ea typeface="+mj-ea"/>
                <a:cs typeface="ヒラギノ角ゴ Pro W3"/>
              </a:rPr>
              <a:t/>
            </a:r>
            <a:b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uLnTx/>
                <a:uFillTx/>
                <a:latin typeface="+mj-lt"/>
                <a:ea typeface="+mj-ea"/>
                <a:cs typeface="ヒラギノ角ゴ Pro W3"/>
              </a:rPr>
            </a:br>
            <a:endParaRPr kumimoji="0" lang="en-US" sz="16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95000"/>
                </a:schemeClr>
              </a:solidFill>
              <a:uLnTx/>
              <a:uFillTx/>
              <a:latin typeface="+mj-lt"/>
              <a:ea typeface="+mj-ea"/>
              <a:cs typeface="ヒラギノ角ゴ Pro W3"/>
            </a:endParaRPr>
          </a:p>
        </p:txBody>
      </p:sp>
      <p:sp>
        <p:nvSpPr>
          <p:cNvPr id="12" name="Content Placeholder 2"/>
          <p:cNvSpPr txBox="1">
            <a:spLocks/>
          </p:cNvSpPr>
          <p:nvPr/>
        </p:nvSpPr>
        <p:spPr bwMode="auto">
          <a:xfrm>
            <a:off x="609600" y="2209800"/>
            <a:ext cx="77724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smtClean="0">
                <a:ln>
                  <a:solidFill>
                    <a:schemeClr val="accent4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ヒラギノ角ゴ Pro W3"/>
              </a:rPr>
              <a:t>Fishery Monitoring Branch personnel Walter Machado &amp; </a:t>
            </a:r>
            <a:r>
              <a:rPr kumimoji="0" lang="en-US" sz="2000" b="1" i="0" u="none" strike="noStrike" kern="0" cap="none" spc="0" normalizeH="0" baseline="0" noProof="0" dirty="0" err="1" smtClean="0">
                <a:ln>
                  <a:solidFill>
                    <a:schemeClr val="accent4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ヒラギノ角ゴ Pro W3"/>
              </a:rPr>
              <a:t>Emeline</a:t>
            </a:r>
            <a:r>
              <a:rPr kumimoji="0" lang="en-US" sz="2000" b="1" i="0" u="none" strike="noStrike" kern="0" cap="none" spc="0" normalizeH="0" noProof="0" dirty="0" smtClean="0">
                <a:ln>
                  <a:solidFill>
                    <a:schemeClr val="accent4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ヒラギノ角ゴ Pro W3"/>
              </a:rPr>
              <a:t> </a:t>
            </a:r>
            <a:r>
              <a:rPr kumimoji="0" lang="en-US" sz="2000" b="1" i="0" u="none" strike="noStrike" kern="0" cap="none" spc="0" normalizeH="0" noProof="0" dirty="0" err="1" smtClean="0">
                <a:ln>
                  <a:solidFill>
                    <a:schemeClr val="accent4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ヒラギノ角ゴ Pro W3"/>
              </a:rPr>
              <a:t>Kalahiki</a:t>
            </a:r>
            <a:endParaRPr kumimoji="0" lang="en-US" sz="2000" b="1" i="0" u="none" strike="noStrike" kern="0" cap="none" spc="0" normalizeH="0" baseline="0" noProof="0" dirty="0" smtClean="0">
              <a:ln>
                <a:solidFill>
                  <a:schemeClr val="accent4"/>
                </a:solidFill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ヒラギノ角ゴ Pro W3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smtClean="0">
                <a:ln>
                  <a:solidFill>
                    <a:schemeClr val="accent4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ヒラギノ角ゴ Pro W3"/>
              </a:rPr>
              <a:t>International Fisheries Program-</a:t>
            </a:r>
            <a:r>
              <a:rPr lang="en-US" sz="2000" b="1" kern="0" dirty="0" smtClean="0">
                <a:ln>
                  <a:solidFill>
                    <a:schemeClr val="accent4"/>
                  </a:solidFill>
                </a:ln>
                <a:solidFill>
                  <a:srgbClr val="FFFF00"/>
                </a:solidFill>
                <a:latin typeface="+mn-lt"/>
                <a:ea typeface="+mn-ea"/>
                <a:cs typeface="ヒラギノ角ゴ Pro W3"/>
              </a:rPr>
              <a:t> Ashley Tomita, and </a:t>
            </a:r>
            <a:r>
              <a:rPr kumimoji="0" lang="en-US" sz="2000" b="1" i="0" u="none" strike="noStrike" kern="0" cap="none" spc="0" normalizeH="0" baseline="0" noProof="0" dirty="0" smtClean="0">
                <a:ln>
                  <a:solidFill>
                    <a:schemeClr val="accent4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ヒラギノ角ゴ Pro W3"/>
              </a:rPr>
              <a:t>Keith Bigelow</a:t>
            </a:r>
          </a:p>
          <a:p>
            <a:pPr marL="342900" lvl="0" indent="-342900" eaLnBrk="0" hangingPunct="0">
              <a:spcBef>
                <a:spcPct val="20000"/>
              </a:spcBef>
              <a:defRPr/>
            </a:pPr>
            <a:r>
              <a:rPr kumimoji="0" lang="en-US" sz="2000" b="1" i="0" u="none" strike="noStrike" kern="0" cap="none" spc="0" normalizeH="0" baseline="0" noProof="0" dirty="0" smtClean="0">
                <a:ln>
                  <a:solidFill>
                    <a:schemeClr val="accent4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ヒラギノ角ゴ Pro W3"/>
              </a:rPr>
              <a:t>Data managers &amp; keypunchers </a:t>
            </a:r>
            <a:r>
              <a:rPr lang="en-US" sz="2000" b="1" kern="0" dirty="0">
                <a:ln>
                  <a:solidFill>
                    <a:schemeClr val="accent4"/>
                  </a:solidFill>
                </a:ln>
                <a:solidFill>
                  <a:srgbClr val="FFFF00"/>
                </a:solidFill>
                <a:latin typeface="+mn-lt"/>
                <a:cs typeface="ヒラギノ角ゴ Pro W3"/>
              </a:rPr>
              <a:t>Chris </a:t>
            </a:r>
            <a:r>
              <a:rPr lang="en-US" sz="2000" b="1" kern="0" dirty="0" err="1">
                <a:ln>
                  <a:solidFill>
                    <a:schemeClr val="accent4"/>
                  </a:solidFill>
                </a:ln>
                <a:solidFill>
                  <a:srgbClr val="FFFF00"/>
                </a:solidFill>
                <a:latin typeface="+mn-lt"/>
                <a:cs typeface="ヒラギノ角ゴ Pro W3"/>
              </a:rPr>
              <a:t>Tokita</a:t>
            </a:r>
            <a:r>
              <a:rPr lang="en-US" sz="2000" b="1" kern="0" dirty="0">
                <a:ln>
                  <a:solidFill>
                    <a:schemeClr val="accent4"/>
                  </a:solidFill>
                </a:ln>
                <a:solidFill>
                  <a:srgbClr val="FFFF00"/>
                </a:solidFill>
                <a:latin typeface="+mn-lt"/>
                <a:cs typeface="ヒラギノ角ゴ Pro W3"/>
              </a:rPr>
              <a:t> </a:t>
            </a:r>
            <a:r>
              <a:rPr lang="en-US" sz="2000" b="1" kern="0" dirty="0" smtClean="0">
                <a:ln>
                  <a:solidFill>
                    <a:schemeClr val="accent4"/>
                  </a:solidFill>
                </a:ln>
                <a:solidFill>
                  <a:srgbClr val="FFFF00"/>
                </a:solidFill>
                <a:latin typeface="+mn-lt"/>
                <a:cs typeface="ヒラギノ角ゴ Pro W3"/>
              </a:rPr>
              <a:t>and </a:t>
            </a:r>
            <a:r>
              <a:rPr lang="en-US" sz="2000" b="1" kern="0" dirty="0">
                <a:ln>
                  <a:solidFill>
                    <a:schemeClr val="accent4"/>
                  </a:solidFill>
                </a:ln>
                <a:solidFill>
                  <a:srgbClr val="FFFF00"/>
                </a:solidFill>
                <a:latin typeface="+mn-lt"/>
                <a:cs typeface="ヒラギノ角ゴ Pro W3"/>
              </a:rPr>
              <a:t>Nate Chan </a:t>
            </a:r>
            <a:endParaRPr kumimoji="0" lang="en-US" sz="2000" b="1" i="0" u="none" strike="noStrike" kern="0" cap="none" spc="0" normalizeH="0" baseline="0" noProof="0" dirty="0" smtClean="0">
              <a:ln>
                <a:solidFill>
                  <a:schemeClr val="accent4"/>
                </a:solidFill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ヒラギノ角ゴ Pro W3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 kern="0" dirty="0" smtClean="0">
                <a:ln>
                  <a:solidFill>
                    <a:schemeClr val="accent4"/>
                  </a:solidFill>
                </a:ln>
                <a:solidFill>
                  <a:srgbClr val="FFFF00"/>
                </a:solidFill>
                <a:latin typeface="+mn-lt"/>
                <a:ea typeface="+mn-ea"/>
                <a:cs typeface="ヒラギノ角ゴ Pro W3"/>
              </a:rPr>
              <a:t>PIRO Observer Program</a:t>
            </a:r>
            <a:endParaRPr kumimoji="0" lang="en-US" sz="2000" b="1" i="0" u="none" strike="noStrike" kern="0" cap="none" spc="0" normalizeH="0" baseline="0" noProof="0" dirty="0">
              <a:ln>
                <a:solidFill>
                  <a:schemeClr val="accent4"/>
                </a:solidFill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ヒラギノ角ゴ Pro W3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3886200"/>
            <a:ext cx="4419859" cy="29718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459" y="3887660"/>
            <a:ext cx="4343399" cy="29703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 Presentation">
  <a:themeElements>
    <a:clrScheme name="">
      <a:dk1>
        <a:srgbClr val="002950"/>
      </a:dk1>
      <a:lt1>
        <a:srgbClr val="FFFFFF"/>
      </a:lt1>
      <a:dk2>
        <a:srgbClr val="007262"/>
      </a:dk2>
      <a:lt2>
        <a:srgbClr val="808080"/>
      </a:lt2>
      <a:accent1>
        <a:srgbClr val="BBE0E3"/>
      </a:accent1>
      <a:accent2>
        <a:srgbClr val="FCDA7F"/>
      </a:accent2>
      <a:accent3>
        <a:srgbClr val="FFFFFF"/>
      </a:accent3>
      <a:accent4>
        <a:srgbClr val="002143"/>
      </a:accent4>
      <a:accent5>
        <a:srgbClr val="DAEDEF"/>
      </a:accent5>
      <a:accent6>
        <a:srgbClr val="E4C572"/>
      </a:accent6>
      <a:hlink>
        <a:srgbClr val="955F22"/>
      </a:hlink>
      <a:folHlink>
        <a:srgbClr val="99CC00"/>
      </a:folHlink>
    </a:clrScheme>
    <a:fontScheme name="Blank Presentation">
      <a:majorFont>
        <a:latin typeface="Arial Black"/>
        <a:ea typeface="ヒラギノ角ゴ Pro W3"/>
        <a:cs typeface=""/>
      </a:majorFont>
      <a:minorFont>
        <a:latin typeface="Arial"/>
        <a:ea typeface="ヒラギノ角ゴ Pro W3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ヒラギノ角ゴ Pro W3" pitchFamily="-4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ヒラギノ角ゴ Pro W3" pitchFamily="-48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bit">
      <a:majorFont>
        <a:latin typeface="Candara"/>
        <a:ea typeface=""/>
        <a:cs typeface=""/>
        <a:font script="Jpan" typeface="ＭＳ Ｐゴシック"/>
      </a:majorFont>
      <a:minorFont>
        <a:latin typeface="Candara"/>
        <a:ea typeface=""/>
        <a:cs typeface=""/>
        <a:font script="Jpan"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PM G5 E:Applications:Microsoft Office 2004:Templates:Presentations:Designs:Blank Presentation</Template>
  <TotalTime>7199</TotalTime>
  <Words>509</Words>
  <Application>Microsoft Office PowerPoint</Application>
  <PresentationFormat>On-screen Show (4:3)</PresentationFormat>
  <Paragraphs>100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ＭＳ Ｐゴシック</vt:lpstr>
      <vt:lpstr>Arial</vt:lpstr>
      <vt:lpstr>Arial Black</vt:lpstr>
      <vt:lpstr>Arial Narrow</vt:lpstr>
      <vt:lpstr>Candara</vt:lpstr>
      <vt:lpstr>Times New Roman</vt:lpstr>
      <vt:lpstr>ヒラギノ角ゴ Pro W3</vt:lpstr>
      <vt:lpstr>Blank Presentation</vt:lpstr>
      <vt:lpstr>Office Theme</vt:lpstr>
      <vt:lpstr>U.S. Commercial Fisheries for Marlins in the North Pacific Ocean</vt:lpstr>
      <vt:lpstr>Marlin Catch by Gear Type</vt:lpstr>
      <vt:lpstr>Marlin Catch by Species</vt:lpstr>
      <vt:lpstr>Striped Marlin Catch by Gear Type</vt:lpstr>
      <vt:lpstr>PowerPoint Presentation</vt:lpstr>
      <vt:lpstr>PowerPoint Presentation</vt:lpstr>
      <vt:lpstr>PowerPoint Presentation</vt:lpstr>
      <vt:lpstr>PowerPoint Presentation</vt:lpstr>
      <vt:lpstr>Hawaii-based Deep-set Longline  Striped Marlin and Blue Marlin CPUE</vt:lpstr>
      <vt:lpstr>Number of U.S. Commercial Troll Fishers</vt:lpstr>
      <vt:lpstr>U.S. Commercial Troll Catch of Marlins</vt:lpstr>
      <vt:lpstr>Hawaii Troll Striped and Blue Marlin CPUE</vt:lpstr>
      <vt:lpstr>Number of Hawaii Handline Fishers</vt:lpstr>
      <vt:lpstr>Hawaii Handline Marlin Catch</vt:lpstr>
      <vt:lpstr>Weight-frequency Histograms  of Striped Marlin and Blue Marlin, 2019</vt:lpstr>
      <vt:lpstr>Overview of U.S. Commercial Fisheries  for Marlins in the North Pacific Ocean</vt:lpstr>
      <vt:lpstr>Recent Developments</vt:lpstr>
      <vt:lpstr>Annual Mean length from PIROP data</vt:lpstr>
      <vt:lpstr>Histogram of lengths overall and by quarter</vt:lpstr>
      <vt:lpstr>Density of lengths by:</vt:lpstr>
      <vt:lpstr>Spatial distribution of mean length overall and by quarter</vt:lpstr>
      <vt:lpstr>Acknowledgements</vt:lpstr>
    </vt:vector>
  </TitlesOfParts>
  <Company>Design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Design Studio</dc:creator>
  <cp:lastModifiedBy>Michelle Sculley</cp:lastModifiedBy>
  <cp:revision>472</cp:revision>
  <cp:lastPrinted>2020-11-02T20:16:55Z</cp:lastPrinted>
  <dcterms:created xsi:type="dcterms:W3CDTF">2008-02-21T19:24:07Z</dcterms:created>
  <dcterms:modified xsi:type="dcterms:W3CDTF">2020-11-02T22:52:46Z</dcterms:modified>
</cp:coreProperties>
</file>